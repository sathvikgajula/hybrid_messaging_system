
<file path=[Content_Types].xml><?xml version="1.0" encoding="utf-8"?>
<Types xmlns="http://schemas.openxmlformats.org/package/2006/content-types">
  <Default Extension="fntdata" ContentType="application/x-fontdata"/>
  <Default Extension="jp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7"/>
  </p:notesMasterIdLst>
  <p:sldIdLst>
    <p:sldId id="272" r:id="rId2"/>
    <p:sldId id="273" r:id="rId3"/>
    <p:sldId id="274" r:id="rId4"/>
    <p:sldId id="275" r:id="rId5"/>
    <p:sldId id="276" r:id="rId6"/>
  </p:sldIdLst>
  <p:sldSz cx="12192000" cy="6858000"/>
  <p:notesSz cx="6858000" cy="9144000"/>
  <p:embeddedFontLst>
    <p:embeddedFont>
      <p:font typeface="Alfa Slab One" pitchFamily="2" charset="77"/>
      <p:regular r:id="rId8"/>
    </p:embeddedFont>
    <p:embeddedFont>
      <p:font typeface="Proxima Nova" panose="02000506030000020004" pitchFamily="2" charset="0"/>
      <p:regular r:id="rId9"/>
      <p:bold r:id="rId10"/>
      <p:italic r:id="rId11"/>
      <p:boldItalic r:id="rId12"/>
    </p:embeddedFont>
    <p:embeddedFont>
      <p:font typeface="Proxima Nova Extrabold" panose="02000506030000020004" pitchFamily="2" charset="0"/>
      <p:bold r:id="rId1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hZHyax3UW9Zex0GMXF5dMyHFe/K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DF98895-3844-4C03-AF0A-95E6B4FF657A}">
  <a:tblStyle styleId="{4DF98895-3844-4C03-AF0A-95E6B4FF657A}" styleName="Table_0">
    <a:wholeTbl>
      <a:tcTxStyle>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37"/>
  </p:normalViewPr>
  <p:slideViewPr>
    <p:cSldViewPr snapToGrid="0">
      <p:cViewPr varScale="1">
        <p:scale>
          <a:sx n="103" d="100"/>
          <a:sy n="103" d="100"/>
        </p:scale>
        <p:origin x="89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3" Type="http://schemas.openxmlformats.org/officeDocument/2006/relationships/slide" Target="slides/slide2.xml"/><Relationship Id="rId55" Type="http://customschemas.google.com/relationships/presentationmetadata" Target="metadata"/><Relationship Id="rId7" Type="http://schemas.openxmlformats.org/officeDocument/2006/relationships/notesMaster" Target="notesMasters/notesMaster1.xml"/><Relationship Id="rId12" Type="http://schemas.openxmlformats.org/officeDocument/2006/relationships/font" Target="fonts/font5.fntdata"/><Relationship Id="rId59"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8" Type="http://schemas.openxmlformats.org/officeDocument/2006/relationships/theme" Target="theme/theme1.xml"/><Relationship Id="rId5" Type="http://schemas.openxmlformats.org/officeDocument/2006/relationships/slide" Target="slides/slide4.xml"/><Relationship Id="rId57" Type="http://schemas.openxmlformats.org/officeDocument/2006/relationships/viewProps" Target="viewProps.xml"/><Relationship Id="rId10"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font" Target="fonts/font2.fntdata"/><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5064b0fa22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35064b0fa22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5064b0fa22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35064b0fa22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40f8e6e69a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340f8e6e69a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356b12e0378_2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356b12e0378_2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40f8e6e69a_0_1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340f8e6e69a_0_1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sp>
        <p:nvSpPr>
          <p:cNvPr id="21" name="Google Shape;21;g340f8e6e69a_0_54"/>
          <p:cNvSpPr txBox="1">
            <a:spLocks noGrp="1"/>
          </p:cNvSpPr>
          <p:nvPr>
            <p:ph type="body" idx="1"/>
          </p:nvPr>
        </p:nvSpPr>
        <p:spPr>
          <a:xfrm>
            <a:off x="838200" y="1536300"/>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282828"/>
              </a:buClr>
              <a:buSzPts val="1800"/>
              <a:buChar char="●"/>
              <a:defRPr>
                <a:solidFill>
                  <a:srgbClr val="282828"/>
                </a:solidFill>
              </a:defRPr>
            </a:lvl1pPr>
            <a:lvl2pPr marL="914400" lvl="1" indent="-342900" algn="l">
              <a:lnSpc>
                <a:spcPct val="90000"/>
              </a:lnSpc>
              <a:spcBef>
                <a:spcPts val="1600"/>
              </a:spcBef>
              <a:spcAft>
                <a:spcPts val="0"/>
              </a:spcAft>
              <a:buClr>
                <a:srgbClr val="282828"/>
              </a:buClr>
              <a:buSzPts val="1800"/>
              <a:buChar char="○"/>
              <a:defRPr>
                <a:solidFill>
                  <a:srgbClr val="282828"/>
                </a:solidFill>
              </a:defRPr>
            </a:lvl2pPr>
            <a:lvl3pPr marL="1371600" lvl="2" indent="-342900" algn="l">
              <a:lnSpc>
                <a:spcPct val="90000"/>
              </a:lnSpc>
              <a:spcBef>
                <a:spcPts val="1600"/>
              </a:spcBef>
              <a:spcAft>
                <a:spcPts val="0"/>
              </a:spcAft>
              <a:buClr>
                <a:srgbClr val="282828"/>
              </a:buClr>
              <a:buSzPts val="1800"/>
              <a:buChar char="■"/>
              <a:defRPr>
                <a:solidFill>
                  <a:srgbClr val="282828"/>
                </a:solidFill>
              </a:defRPr>
            </a:lvl3pPr>
            <a:lvl4pPr marL="1828800" lvl="3" indent="-342900" algn="l">
              <a:lnSpc>
                <a:spcPct val="90000"/>
              </a:lnSpc>
              <a:spcBef>
                <a:spcPts val="1600"/>
              </a:spcBef>
              <a:spcAft>
                <a:spcPts val="0"/>
              </a:spcAft>
              <a:buClr>
                <a:srgbClr val="282828"/>
              </a:buClr>
              <a:buSzPts val="1800"/>
              <a:buChar char="●"/>
              <a:defRPr>
                <a:solidFill>
                  <a:srgbClr val="282828"/>
                </a:solidFill>
              </a:defRPr>
            </a:lvl4pPr>
            <a:lvl5pPr marL="2286000" lvl="4" indent="-342900" algn="l">
              <a:lnSpc>
                <a:spcPct val="90000"/>
              </a:lnSpc>
              <a:spcBef>
                <a:spcPts val="1600"/>
              </a:spcBef>
              <a:spcAft>
                <a:spcPts val="0"/>
              </a:spcAft>
              <a:buClr>
                <a:srgbClr val="282828"/>
              </a:buClr>
              <a:buSzPts val="1800"/>
              <a:buChar char="○"/>
              <a:defRPr>
                <a:solidFill>
                  <a:srgbClr val="282828"/>
                </a:solidFill>
              </a:defRPr>
            </a:lvl5pPr>
            <a:lvl6pPr marL="2743200" lvl="5" indent="-342900" algn="l">
              <a:lnSpc>
                <a:spcPct val="90000"/>
              </a:lnSpc>
              <a:spcBef>
                <a:spcPts val="1600"/>
              </a:spcBef>
              <a:spcAft>
                <a:spcPts val="0"/>
              </a:spcAft>
              <a:buClr>
                <a:srgbClr val="282828"/>
              </a:buClr>
              <a:buSzPts val="1800"/>
              <a:buChar char="■"/>
              <a:defRPr>
                <a:solidFill>
                  <a:srgbClr val="282828"/>
                </a:solidFill>
              </a:defRPr>
            </a:lvl6pPr>
            <a:lvl7pPr marL="3200400" lvl="6" indent="-342900" algn="l">
              <a:lnSpc>
                <a:spcPct val="90000"/>
              </a:lnSpc>
              <a:spcBef>
                <a:spcPts val="1600"/>
              </a:spcBef>
              <a:spcAft>
                <a:spcPts val="0"/>
              </a:spcAft>
              <a:buClr>
                <a:srgbClr val="282828"/>
              </a:buClr>
              <a:buSzPts val="1800"/>
              <a:buChar char="●"/>
              <a:defRPr>
                <a:solidFill>
                  <a:srgbClr val="282828"/>
                </a:solidFill>
              </a:defRPr>
            </a:lvl7pPr>
            <a:lvl8pPr marL="3657600" lvl="7" indent="-342900" algn="l">
              <a:lnSpc>
                <a:spcPct val="90000"/>
              </a:lnSpc>
              <a:spcBef>
                <a:spcPts val="1600"/>
              </a:spcBef>
              <a:spcAft>
                <a:spcPts val="0"/>
              </a:spcAft>
              <a:buClr>
                <a:srgbClr val="282828"/>
              </a:buClr>
              <a:buSzPts val="1800"/>
              <a:buChar char="○"/>
              <a:defRPr>
                <a:solidFill>
                  <a:srgbClr val="282828"/>
                </a:solidFill>
              </a:defRPr>
            </a:lvl8pPr>
            <a:lvl9pPr marL="4114800" lvl="8" indent="-342900" algn="l">
              <a:lnSpc>
                <a:spcPct val="90000"/>
              </a:lnSpc>
              <a:spcBef>
                <a:spcPts val="1600"/>
              </a:spcBef>
              <a:spcAft>
                <a:spcPts val="1600"/>
              </a:spcAft>
              <a:buClr>
                <a:srgbClr val="282828"/>
              </a:buClr>
              <a:buSzPts val="1800"/>
              <a:buChar char="■"/>
              <a:defRPr>
                <a:solidFill>
                  <a:srgbClr val="282828"/>
                </a:solidFill>
              </a:defRPr>
            </a:lvl9pPr>
          </a:lstStyle>
          <a:p>
            <a:endParaRPr/>
          </a:p>
        </p:txBody>
      </p:sp>
      <p:sp>
        <p:nvSpPr>
          <p:cNvPr id="22" name="Google Shape;22;g340f8e6e69a_0_5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rm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 name="Google Shape;23;g340f8e6e69a_0_54"/>
          <p:cNvSpPr txBox="1"/>
          <p:nvPr/>
        </p:nvSpPr>
        <p:spPr>
          <a:xfrm>
            <a:off x="177150" y="6251825"/>
            <a:ext cx="10199700" cy="456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a:solidFill>
                  <a:srgbClr val="666666"/>
                </a:solidFill>
                <a:latin typeface="Proxima Nova"/>
                <a:ea typeface="Proxima Nova"/>
                <a:cs typeface="Proxima Nova"/>
                <a:sym typeface="Proxima Nova"/>
              </a:rPr>
              <a:t>FAU - DL - Final Project - Group1</a:t>
            </a:r>
            <a:endParaRPr sz="1800">
              <a:solidFill>
                <a:srgbClr val="666666"/>
              </a:solidFill>
              <a:latin typeface="Proxima Nova"/>
              <a:ea typeface="Proxima Nova"/>
              <a:cs typeface="Proxima Nova"/>
              <a:sym typeface="Proxima Nova"/>
            </a:endParaRPr>
          </a:p>
        </p:txBody>
      </p:sp>
      <p:sp>
        <p:nvSpPr>
          <p:cNvPr id="24" name="Google Shape;24;g340f8e6e69a_0_54"/>
          <p:cNvSpPr txBox="1">
            <a:spLocks noGrp="1"/>
          </p:cNvSpPr>
          <p:nvPr>
            <p:ph type="title"/>
          </p:nvPr>
        </p:nvSpPr>
        <p:spPr>
          <a:xfrm>
            <a:off x="457550" y="274275"/>
            <a:ext cx="10444800" cy="763500"/>
          </a:xfrm>
          <a:prstGeom prst="rect">
            <a:avLst/>
          </a:prstGeom>
          <a:noFill/>
        </p:spPr>
        <p:txBody>
          <a:bodyPr spcFirstLastPara="1" wrap="square" lIns="121900" tIns="121900" rIns="121900" bIns="121900" anchor="t" anchorCtr="0">
            <a:normAutofit/>
          </a:bodyPr>
          <a:lstStyle>
            <a:lvl1pPr lvl="0">
              <a:spcBef>
                <a:spcPts val="0"/>
              </a:spcBef>
              <a:spcAft>
                <a:spcPts val="0"/>
              </a:spcAft>
              <a:buClr>
                <a:srgbClr val="003066"/>
              </a:buClr>
              <a:buSzPts val="3600"/>
              <a:buFont typeface="Proxima Nova Extrabold"/>
              <a:buNone/>
              <a:defRPr sz="3600">
                <a:solidFill>
                  <a:srgbClr val="003066"/>
                </a:solidFill>
                <a:latin typeface="Proxima Nova Extrabold"/>
                <a:ea typeface="Proxima Nova Extrabold"/>
                <a:cs typeface="Proxima Nova Extrabold"/>
                <a:sym typeface="Proxima Nova Extrabold"/>
              </a:defRPr>
            </a:lvl1pPr>
            <a:lvl2pPr lvl="1">
              <a:spcBef>
                <a:spcPts val="0"/>
              </a:spcBef>
              <a:spcAft>
                <a:spcPts val="0"/>
              </a:spcAft>
              <a:buClr>
                <a:srgbClr val="003066"/>
              </a:buClr>
              <a:buSzPts val="3600"/>
              <a:buFont typeface="Proxima Nova Extrabold"/>
              <a:buNone/>
              <a:defRPr sz="3600">
                <a:solidFill>
                  <a:srgbClr val="003066"/>
                </a:solidFill>
                <a:latin typeface="Proxima Nova Extrabold"/>
                <a:ea typeface="Proxima Nova Extrabold"/>
                <a:cs typeface="Proxima Nova Extrabold"/>
                <a:sym typeface="Proxima Nova Extrabold"/>
              </a:defRPr>
            </a:lvl2pPr>
            <a:lvl3pPr lvl="2">
              <a:spcBef>
                <a:spcPts val="0"/>
              </a:spcBef>
              <a:spcAft>
                <a:spcPts val="0"/>
              </a:spcAft>
              <a:buClr>
                <a:srgbClr val="003066"/>
              </a:buClr>
              <a:buSzPts val="3600"/>
              <a:buFont typeface="Proxima Nova Extrabold"/>
              <a:buNone/>
              <a:defRPr sz="3600">
                <a:solidFill>
                  <a:srgbClr val="003066"/>
                </a:solidFill>
                <a:latin typeface="Proxima Nova Extrabold"/>
                <a:ea typeface="Proxima Nova Extrabold"/>
                <a:cs typeface="Proxima Nova Extrabold"/>
                <a:sym typeface="Proxima Nova Extrabold"/>
              </a:defRPr>
            </a:lvl3pPr>
            <a:lvl4pPr lvl="3">
              <a:spcBef>
                <a:spcPts val="0"/>
              </a:spcBef>
              <a:spcAft>
                <a:spcPts val="0"/>
              </a:spcAft>
              <a:buClr>
                <a:srgbClr val="003066"/>
              </a:buClr>
              <a:buSzPts val="3600"/>
              <a:buFont typeface="Proxima Nova Extrabold"/>
              <a:buNone/>
              <a:defRPr sz="3600">
                <a:solidFill>
                  <a:srgbClr val="003066"/>
                </a:solidFill>
                <a:latin typeface="Proxima Nova Extrabold"/>
                <a:ea typeface="Proxima Nova Extrabold"/>
                <a:cs typeface="Proxima Nova Extrabold"/>
                <a:sym typeface="Proxima Nova Extrabold"/>
              </a:defRPr>
            </a:lvl4pPr>
            <a:lvl5pPr lvl="4">
              <a:spcBef>
                <a:spcPts val="0"/>
              </a:spcBef>
              <a:spcAft>
                <a:spcPts val="0"/>
              </a:spcAft>
              <a:buClr>
                <a:srgbClr val="003066"/>
              </a:buClr>
              <a:buSzPts val="3600"/>
              <a:buFont typeface="Proxima Nova Extrabold"/>
              <a:buNone/>
              <a:defRPr sz="3600">
                <a:solidFill>
                  <a:srgbClr val="003066"/>
                </a:solidFill>
                <a:latin typeface="Proxima Nova Extrabold"/>
                <a:ea typeface="Proxima Nova Extrabold"/>
                <a:cs typeface="Proxima Nova Extrabold"/>
                <a:sym typeface="Proxima Nova Extrabold"/>
              </a:defRPr>
            </a:lvl5pPr>
            <a:lvl6pPr lvl="5">
              <a:spcBef>
                <a:spcPts val="0"/>
              </a:spcBef>
              <a:spcAft>
                <a:spcPts val="0"/>
              </a:spcAft>
              <a:buClr>
                <a:srgbClr val="003066"/>
              </a:buClr>
              <a:buSzPts val="3600"/>
              <a:buFont typeface="Proxima Nova Extrabold"/>
              <a:buNone/>
              <a:defRPr sz="3600">
                <a:solidFill>
                  <a:srgbClr val="003066"/>
                </a:solidFill>
                <a:latin typeface="Proxima Nova Extrabold"/>
                <a:ea typeface="Proxima Nova Extrabold"/>
                <a:cs typeface="Proxima Nova Extrabold"/>
                <a:sym typeface="Proxima Nova Extrabold"/>
              </a:defRPr>
            </a:lvl6pPr>
            <a:lvl7pPr lvl="6">
              <a:spcBef>
                <a:spcPts val="0"/>
              </a:spcBef>
              <a:spcAft>
                <a:spcPts val="0"/>
              </a:spcAft>
              <a:buClr>
                <a:srgbClr val="003066"/>
              </a:buClr>
              <a:buSzPts val="3600"/>
              <a:buFont typeface="Proxima Nova Extrabold"/>
              <a:buNone/>
              <a:defRPr sz="3600">
                <a:solidFill>
                  <a:srgbClr val="003066"/>
                </a:solidFill>
                <a:latin typeface="Proxima Nova Extrabold"/>
                <a:ea typeface="Proxima Nova Extrabold"/>
                <a:cs typeface="Proxima Nova Extrabold"/>
                <a:sym typeface="Proxima Nova Extrabold"/>
              </a:defRPr>
            </a:lvl7pPr>
            <a:lvl8pPr lvl="7">
              <a:spcBef>
                <a:spcPts val="0"/>
              </a:spcBef>
              <a:spcAft>
                <a:spcPts val="0"/>
              </a:spcAft>
              <a:buClr>
                <a:srgbClr val="003066"/>
              </a:buClr>
              <a:buSzPts val="3600"/>
              <a:buFont typeface="Proxima Nova Extrabold"/>
              <a:buNone/>
              <a:defRPr sz="3600">
                <a:solidFill>
                  <a:srgbClr val="003066"/>
                </a:solidFill>
                <a:latin typeface="Proxima Nova Extrabold"/>
                <a:ea typeface="Proxima Nova Extrabold"/>
                <a:cs typeface="Proxima Nova Extrabold"/>
                <a:sym typeface="Proxima Nova Extrabold"/>
              </a:defRPr>
            </a:lvl8pPr>
            <a:lvl9pPr lvl="8">
              <a:spcBef>
                <a:spcPts val="0"/>
              </a:spcBef>
              <a:spcAft>
                <a:spcPts val="0"/>
              </a:spcAft>
              <a:buClr>
                <a:srgbClr val="003066"/>
              </a:buClr>
              <a:buSzPts val="3600"/>
              <a:buFont typeface="Proxima Nova Extrabold"/>
              <a:buNone/>
              <a:defRPr sz="3600">
                <a:solidFill>
                  <a:srgbClr val="003066"/>
                </a:solidFill>
                <a:latin typeface="Proxima Nova Extrabold"/>
                <a:ea typeface="Proxima Nova Extrabold"/>
                <a:cs typeface="Proxima Nova Extrabold"/>
                <a:sym typeface="Proxima Nova Extrabold"/>
              </a:defRPr>
            </a:lvl9pPr>
          </a:lstStyle>
          <a:p>
            <a:endParaRPr/>
          </a:p>
        </p:txBody>
      </p:sp>
      <p:pic>
        <p:nvPicPr>
          <p:cNvPr id="25" name="Google Shape;25;g340f8e6e69a_0_54" title="Florida_Atlantic_Owls_logo.svg.png"/>
          <p:cNvPicPr preferRelativeResize="0"/>
          <p:nvPr/>
        </p:nvPicPr>
        <p:blipFill>
          <a:blip r:embed="rId2">
            <a:alphaModFix/>
          </a:blip>
          <a:stretch>
            <a:fillRect/>
          </a:stretch>
        </p:blipFill>
        <p:spPr>
          <a:xfrm>
            <a:off x="10444665" y="0"/>
            <a:ext cx="1747326" cy="1118300"/>
          </a:xfrm>
          <a:prstGeom prst="rect">
            <a:avLst/>
          </a:prstGeom>
          <a:noFill/>
          <a:ln>
            <a:noFill/>
          </a:ln>
        </p:spPr>
      </p:pic>
      <p:cxnSp>
        <p:nvCxnSpPr>
          <p:cNvPr id="26" name="Google Shape;26;g340f8e6e69a_0_54"/>
          <p:cNvCxnSpPr/>
          <p:nvPr/>
        </p:nvCxnSpPr>
        <p:spPr>
          <a:xfrm>
            <a:off x="-144600" y="1171975"/>
            <a:ext cx="12481200" cy="0"/>
          </a:xfrm>
          <a:prstGeom prst="straightConnector1">
            <a:avLst/>
          </a:prstGeom>
          <a:noFill/>
          <a:ln w="28575" cap="flat" cmpd="sng">
            <a:solidFill>
              <a:srgbClr val="CD0000"/>
            </a:solidFill>
            <a:prstDash val="solid"/>
            <a:round/>
            <a:headEnd type="none" w="med" len="med"/>
            <a:tailEnd type="none" w="med" len="med"/>
          </a:ln>
        </p:spPr>
      </p:cxn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ameday">
    <p:bg>
      <p:bgPr>
        <a:solidFill>
          <a:schemeClr val="lt1"/>
        </a:solidFill>
        <a:effectLst/>
      </p:bgPr>
    </p:bg>
    <p:spTree>
      <p:nvGrpSpPr>
        <p:cNvPr id="1" name="Shape 5"/>
        <p:cNvGrpSpPr/>
        <p:nvPr/>
      </p:nvGrpSpPr>
      <p:grpSpPr>
        <a:xfrm>
          <a:off x="0" y="0"/>
          <a:ext cx="0" cy="0"/>
          <a:chOff x="0" y="0"/>
          <a:chExt cx="0" cy="0"/>
        </a:xfrm>
      </p:grpSpPr>
      <p:sp>
        <p:nvSpPr>
          <p:cNvPr id="6" name="Google Shape;6;g340f8e6e69a_0_7"/>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spcBef>
                <a:spcPts val="0"/>
              </a:spcBef>
              <a:spcAft>
                <a:spcPts val="0"/>
              </a:spcAft>
              <a:buClr>
                <a:schemeClr val="accent3"/>
              </a:buClr>
              <a:buSzPts val="4000"/>
              <a:buFont typeface="Alfa Slab One"/>
              <a:buNone/>
              <a:defRPr sz="4000">
                <a:solidFill>
                  <a:schemeClr val="accent3"/>
                </a:solidFill>
                <a:latin typeface="Alfa Slab One"/>
                <a:ea typeface="Alfa Slab One"/>
                <a:cs typeface="Alfa Slab One"/>
                <a:sym typeface="Alfa Slab One"/>
              </a:defRPr>
            </a:lvl1pPr>
            <a:lvl2pPr lvl="1">
              <a:spcBef>
                <a:spcPts val="0"/>
              </a:spcBef>
              <a:spcAft>
                <a:spcPts val="0"/>
              </a:spcAft>
              <a:buClr>
                <a:schemeClr val="accent3"/>
              </a:buClr>
              <a:buSzPts val="4000"/>
              <a:buFont typeface="Alfa Slab One"/>
              <a:buNone/>
              <a:defRPr sz="4000">
                <a:solidFill>
                  <a:schemeClr val="accent3"/>
                </a:solidFill>
                <a:latin typeface="Alfa Slab One"/>
                <a:ea typeface="Alfa Slab One"/>
                <a:cs typeface="Alfa Slab One"/>
                <a:sym typeface="Alfa Slab One"/>
              </a:defRPr>
            </a:lvl2pPr>
            <a:lvl3pPr lvl="2">
              <a:spcBef>
                <a:spcPts val="0"/>
              </a:spcBef>
              <a:spcAft>
                <a:spcPts val="0"/>
              </a:spcAft>
              <a:buClr>
                <a:schemeClr val="accent3"/>
              </a:buClr>
              <a:buSzPts val="4000"/>
              <a:buFont typeface="Alfa Slab One"/>
              <a:buNone/>
              <a:defRPr sz="4000">
                <a:solidFill>
                  <a:schemeClr val="accent3"/>
                </a:solidFill>
                <a:latin typeface="Alfa Slab One"/>
                <a:ea typeface="Alfa Slab One"/>
                <a:cs typeface="Alfa Slab One"/>
                <a:sym typeface="Alfa Slab One"/>
              </a:defRPr>
            </a:lvl3pPr>
            <a:lvl4pPr lvl="3">
              <a:spcBef>
                <a:spcPts val="0"/>
              </a:spcBef>
              <a:spcAft>
                <a:spcPts val="0"/>
              </a:spcAft>
              <a:buClr>
                <a:schemeClr val="accent3"/>
              </a:buClr>
              <a:buSzPts val="4000"/>
              <a:buFont typeface="Alfa Slab One"/>
              <a:buNone/>
              <a:defRPr sz="4000">
                <a:solidFill>
                  <a:schemeClr val="accent3"/>
                </a:solidFill>
                <a:latin typeface="Alfa Slab One"/>
                <a:ea typeface="Alfa Slab One"/>
                <a:cs typeface="Alfa Slab One"/>
                <a:sym typeface="Alfa Slab One"/>
              </a:defRPr>
            </a:lvl4pPr>
            <a:lvl5pPr lvl="4">
              <a:spcBef>
                <a:spcPts val="0"/>
              </a:spcBef>
              <a:spcAft>
                <a:spcPts val="0"/>
              </a:spcAft>
              <a:buClr>
                <a:schemeClr val="accent3"/>
              </a:buClr>
              <a:buSzPts val="4000"/>
              <a:buFont typeface="Alfa Slab One"/>
              <a:buNone/>
              <a:defRPr sz="4000">
                <a:solidFill>
                  <a:schemeClr val="accent3"/>
                </a:solidFill>
                <a:latin typeface="Alfa Slab One"/>
                <a:ea typeface="Alfa Slab One"/>
                <a:cs typeface="Alfa Slab One"/>
                <a:sym typeface="Alfa Slab One"/>
              </a:defRPr>
            </a:lvl5pPr>
            <a:lvl6pPr lvl="5">
              <a:spcBef>
                <a:spcPts val="0"/>
              </a:spcBef>
              <a:spcAft>
                <a:spcPts val="0"/>
              </a:spcAft>
              <a:buClr>
                <a:schemeClr val="accent3"/>
              </a:buClr>
              <a:buSzPts val="4000"/>
              <a:buFont typeface="Alfa Slab One"/>
              <a:buNone/>
              <a:defRPr sz="4000">
                <a:solidFill>
                  <a:schemeClr val="accent3"/>
                </a:solidFill>
                <a:latin typeface="Alfa Slab One"/>
                <a:ea typeface="Alfa Slab One"/>
                <a:cs typeface="Alfa Slab One"/>
                <a:sym typeface="Alfa Slab One"/>
              </a:defRPr>
            </a:lvl6pPr>
            <a:lvl7pPr lvl="6">
              <a:spcBef>
                <a:spcPts val="0"/>
              </a:spcBef>
              <a:spcAft>
                <a:spcPts val="0"/>
              </a:spcAft>
              <a:buClr>
                <a:schemeClr val="accent3"/>
              </a:buClr>
              <a:buSzPts val="4000"/>
              <a:buFont typeface="Alfa Slab One"/>
              <a:buNone/>
              <a:defRPr sz="4000">
                <a:solidFill>
                  <a:schemeClr val="accent3"/>
                </a:solidFill>
                <a:latin typeface="Alfa Slab One"/>
                <a:ea typeface="Alfa Slab One"/>
                <a:cs typeface="Alfa Slab One"/>
                <a:sym typeface="Alfa Slab One"/>
              </a:defRPr>
            </a:lvl7pPr>
            <a:lvl8pPr lvl="7">
              <a:spcBef>
                <a:spcPts val="0"/>
              </a:spcBef>
              <a:spcAft>
                <a:spcPts val="0"/>
              </a:spcAft>
              <a:buClr>
                <a:schemeClr val="accent3"/>
              </a:buClr>
              <a:buSzPts val="4000"/>
              <a:buFont typeface="Alfa Slab One"/>
              <a:buNone/>
              <a:defRPr sz="4000">
                <a:solidFill>
                  <a:schemeClr val="accent3"/>
                </a:solidFill>
                <a:latin typeface="Alfa Slab One"/>
                <a:ea typeface="Alfa Slab One"/>
                <a:cs typeface="Alfa Slab One"/>
                <a:sym typeface="Alfa Slab One"/>
              </a:defRPr>
            </a:lvl8pPr>
            <a:lvl9pPr lvl="8">
              <a:spcBef>
                <a:spcPts val="0"/>
              </a:spcBef>
              <a:spcAft>
                <a:spcPts val="0"/>
              </a:spcAft>
              <a:buClr>
                <a:schemeClr val="accent3"/>
              </a:buClr>
              <a:buSzPts val="4000"/>
              <a:buFont typeface="Alfa Slab One"/>
              <a:buNone/>
              <a:defRPr sz="4000">
                <a:solidFill>
                  <a:schemeClr val="accent3"/>
                </a:solidFill>
                <a:latin typeface="Alfa Slab One"/>
                <a:ea typeface="Alfa Slab One"/>
                <a:cs typeface="Alfa Slab One"/>
                <a:sym typeface="Alfa Slab One"/>
              </a:defRPr>
            </a:lvl9pPr>
          </a:lstStyle>
          <a:p>
            <a:endParaRPr/>
          </a:p>
        </p:txBody>
      </p:sp>
      <p:sp>
        <p:nvSpPr>
          <p:cNvPr id="7" name="Google Shape;7;g340f8e6e69a_0_7"/>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lvl="0" indent="-381000">
              <a:lnSpc>
                <a:spcPct val="115000"/>
              </a:lnSpc>
              <a:spcBef>
                <a:spcPts val="0"/>
              </a:spcBef>
              <a:spcAft>
                <a:spcPts val="0"/>
              </a:spcAft>
              <a:buClr>
                <a:schemeClr val="dk2"/>
              </a:buClr>
              <a:buSzPts val="2400"/>
              <a:buFont typeface="Proxima Nova"/>
              <a:buChar char="●"/>
              <a:defRPr sz="2400">
                <a:solidFill>
                  <a:schemeClr val="dk2"/>
                </a:solidFill>
                <a:latin typeface="Proxima Nova"/>
                <a:ea typeface="Proxima Nova"/>
                <a:cs typeface="Proxima Nova"/>
                <a:sym typeface="Proxima Nova"/>
              </a:defRPr>
            </a:lvl1pPr>
            <a:lvl2pPr marL="914400" lvl="1" indent="-349250">
              <a:lnSpc>
                <a:spcPct val="115000"/>
              </a:lnSpc>
              <a:spcBef>
                <a:spcPts val="0"/>
              </a:spcBef>
              <a:spcAft>
                <a:spcPts val="0"/>
              </a:spcAft>
              <a:buClr>
                <a:schemeClr val="dk2"/>
              </a:buClr>
              <a:buSzPts val="1900"/>
              <a:buFont typeface="Proxima Nova"/>
              <a:buChar char="○"/>
              <a:defRPr sz="1900">
                <a:solidFill>
                  <a:schemeClr val="dk2"/>
                </a:solidFill>
                <a:latin typeface="Proxima Nova"/>
                <a:ea typeface="Proxima Nova"/>
                <a:cs typeface="Proxima Nova"/>
                <a:sym typeface="Proxima Nova"/>
              </a:defRPr>
            </a:lvl2pPr>
            <a:lvl3pPr marL="1371600" lvl="2" indent="-349250">
              <a:lnSpc>
                <a:spcPct val="115000"/>
              </a:lnSpc>
              <a:spcBef>
                <a:spcPts val="0"/>
              </a:spcBef>
              <a:spcAft>
                <a:spcPts val="0"/>
              </a:spcAft>
              <a:buClr>
                <a:schemeClr val="dk2"/>
              </a:buClr>
              <a:buSzPts val="1900"/>
              <a:buFont typeface="Proxima Nova"/>
              <a:buChar char="■"/>
              <a:defRPr sz="1900">
                <a:solidFill>
                  <a:schemeClr val="dk2"/>
                </a:solidFill>
                <a:latin typeface="Proxima Nova"/>
                <a:ea typeface="Proxima Nova"/>
                <a:cs typeface="Proxima Nova"/>
                <a:sym typeface="Proxima Nova"/>
              </a:defRPr>
            </a:lvl3pPr>
            <a:lvl4pPr marL="1828800" lvl="3" indent="-349250">
              <a:lnSpc>
                <a:spcPct val="115000"/>
              </a:lnSpc>
              <a:spcBef>
                <a:spcPts val="0"/>
              </a:spcBef>
              <a:spcAft>
                <a:spcPts val="0"/>
              </a:spcAft>
              <a:buClr>
                <a:schemeClr val="dk2"/>
              </a:buClr>
              <a:buSzPts val="1900"/>
              <a:buFont typeface="Proxima Nova"/>
              <a:buChar char="●"/>
              <a:defRPr sz="1900">
                <a:solidFill>
                  <a:schemeClr val="dk2"/>
                </a:solidFill>
                <a:latin typeface="Proxima Nova"/>
                <a:ea typeface="Proxima Nova"/>
                <a:cs typeface="Proxima Nova"/>
                <a:sym typeface="Proxima Nova"/>
              </a:defRPr>
            </a:lvl4pPr>
            <a:lvl5pPr marL="2286000" lvl="4" indent="-349250">
              <a:lnSpc>
                <a:spcPct val="115000"/>
              </a:lnSpc>
              <a:spcBef>
                <a:spcPts val="0"/>
              </a:spcBef>
              <a:spcAft>
                <a:spcPts val="0"/>
              </a:spcAft>
              <a:buClr>
                <a:schemeClr val="dk2"/>
              </a:buClr>
              <a:buSzPts val="1900"/>
              <a:buFont typeface="Proxima Nova"/>
              <a:buChar char="○"/>
              <a:defRPr sz="1900">
                <a:solidFill>
                  <a:schemeClr val="dk2"/>
                </a:solidFill>
                <a:latin typeface="Proxima Nova"/>
                <a:ea typeface="Proxima Nova"/>
                <a:cs typeface="Proxima Nova"/>
                <a:sym typeface="Proxima Nova"/>
              </a:defRPr>
            </a:lvl5pPr>
            <a:lvl6pPr marL="2743200" lvl="5" indent="-349250">
              <a:lnSpc>
                <a:spcPct val="115000"/>
              </a:lnSpc>
              <a:spcBef>
                <a:spcPts val="0"/>
              </a:spcBef>
              <a:spcAft>
                <a:spcPts val="0"/>
              </a:spcAft>
              <a:buClr>
                <a:schemeClr val="dk2"/>
              </a:buClr>
              <a:buSzPts val="1900"/>
              <a:buFont typeface="Proxima Nova"/>
              <a:buChar char="■"/>
              <a:defRPr sz="1900">
                <a:solidFill>
                  <a:schemeClr val="dk2"/>
                </a:solidFill>
                <a:latin typeface="Proxima Nova"/>
                <a:ea typeface="Proxima Nova"/>
                <a:cs typeface="Proxima Nova"/>
                <a:sym typeface="Proxima Nova"/>
              </a:defRPr>
            </a:lvl6pPr>
            <a:lvl7pPr marL="3200400" lvl="6" indent="-349250">
              <a:lnSpc>
                <a:spcPct val="115000"/>
              </a:lnSpc>
              <a:spcBef>
                <a:spcPts val="0"/>
              </a:spcBef>
              <a:spcAft>
                <a:spcPts val="0"/>
              </a:spcAft>
              <a:buClr>
                <a:schemeClr val="dk2"/>
              </a:buClr>
              <a:buSzPts val="1900"/>
              <a:buFont typeface="Proxima Nova"/>
              <a:buChar char="●"/>
              <a:defRPr sz="1900">
                <a:solidFill>
                  <a:schemeClr val="dk2"/>
                </a:solidFill>
                <a:latin typeface="Proxima Nova"/>
                <a:ea typeface="Proxima Nova"/>
                <a:cs typeface="Proxima Nova"/>
                <a:sym typeface="Proxima Nova"/>
              </a:defRPr>
            </a:lvl7pPr>
            <a:lvl8pPr marL="3657600" lvl="7" indent="-349250">
              <a:lnSpc>
                <a:spcPct val="115000"/>
              </a:lnSpc>
              <a:spcBef>
                <a:spcPts val="0"/>
              </a:spcBef>
              <a:spcAft>
                <a:spcPts val="0"/>
              </a:spcAft>
              <a:buClr>
                <a:schemeClr val="dk2"/>
              </a:buClr>
              <a:buSzPts val="1900"/>
              <a:buFont typeface="Proxima Nova"/>
              <a:buChar char="○"/>
              <a:defRPr sz="1900">
                <a:solidFill>
                  <a:schemeClr val="dk2"/>
                </a:solidFill>
                <a:latin typeface="Proxima Nova"/>
                <a:ea typeface="Proxima Nova"/>
                <a:cs typeface="Proxima Nova"/>
                <a:sym typeface="Proxima Nova"/>
              </a:defRPr>
            </a:lvl8pPr>
            <a:lvl9pPr marL="4114800" lvl="8" indent="-349250">
              <a:lnSpc>
                <a:spcPct val="115000"/>
              </a:lnSpc>
              <a:spcBef>
                <a:spcPts val="0"/>
              </a:spcBef>
              <a:spcAft>
                <a:spcPts val="0"/>
              </a:spcAft>
              <a:buClr>
                <a:schemeClr val="dk2"/>
              </a:buClr>
              <a:buSzPts val="1900"/>
              <a:buFont typeface="Proxima Nova"/>
              <a:buChar char="■"/>
              <a:defRPr sz="1900">
                <a:solidFill>
                  <a:schemeClr val="dk2"/>
                </a:solidFill>
                <a:latin typeface="Proxima Nova"/>
                <a:ea typeface="Proxima Nova"/>
                <a:cs typeface="Proxima Nova"/>
                <a:sym typeface="Proxima Nova"/>
              </a:defRPr>
            </a:lvl9pPr>
          </a:lstStyle>
          <a:p>
            <a:endParaRPr/>
          </a:p>
        </p:txBody>
      </p:sp>
      <p:sp>
        <p:nvSpPr>
          <p:cNvPr id="8" name="Google Shape;8;g340f8e6e69a_0_7"/>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lvl="0" algn="r">
              <a:buNone/>
              <a:defRPr sz="1300">
                <a:solidFill>
                  <a:schemeClr val="dk2"/>
                </a:solidFill>
                <a:latin typeface="Proxima Nova"/>
                <a:ea typeface="Proxima Nova"/>
                <a:cs typeface="Proxima Nova"/>
                <a:sym typeface="Proxima Nova"/>
              </a:defRPr>
            </a:lvl1pPr>
            <a:lvl2pPr lvl="1" algn="r">
              <a:buNone/>
              <a:defRPr sz="1300">
                <a:solidFill>
                  <a:schemeClr val="dk2"/>
                </a:solidFill>
                <a:latin typeface="Proxima Nova"/>
                <a:ea typeface="Proxima Nova"/>
                <a:cs typeface="Proxima Nova"/>
                <a:sym typeface="Proxima Nova"/>
              </a:defRPr>
            </a:lvl2pPr>
            <a:lvl3pPr lvl="2" algn="r">
              <a:buNone/>
              <a:defRPr sz="1300">
                <a:solidFill>
                  <a:schemeClr val="dk2"/>
                </a:solidFill>
                <a:latin typeface="Proxima Nova"/>
                <a:ea typeface="Proxima Nova"/>
                <a:cs typeface="Proxima Nova"/>
                <a:sym typeface="Proxima Nova"/>
              </a:defRPr>
            </a:lvl3pPr>
            <a:lvl4pPr lvl="3" algn="r">
              <a:buNone/>
              <a:defRPr sz="1300">
                <a:solidFill>
                  <a:schemeClr val="dk2"/>
                </a:solidFill>
                <a:latin typeface="Proxima Nova"/>
                <a:ea typeface="Proxima Nova"/>
                <a:cs typeface="Proxima Nova"/>
                <a:sym typeface="Proxima Nova"/>
              </a:defRPr>
            </a:lvl4pPr>
            <a:lvl5pPr lvl="4" algn="r">
              <a:buNone/>
              <a:defRPr sz="1300">
                <a:solidFill>
                  <a:schemeClr val="dk2"/>
                </a:solidFill>
                <a:latin typeface="Proxima Nova"/>
                <a:ea typeface="Proxima Nova"/>
                <a:cs typeface="Proxima Nova"/>
                <a:sym typeface="Proxima Nova"/>
              </a:defRPr>
            </a:lvl5pPr>
            <a:lvl6pPr lvl="5" algn="r">
              <a:buNone/>
              <a:defRPr sz="1300">
                <a:solidFill>
                  <a:schemeClr val="dk2"/>
                </a:solidFill>
                <a:latin typeface="Proxima Nova"/>
                <a:ea typeface="Proxima Nova"/>
                <a:cs typeface="Proxima Nova"/>
                <a:sym typeface="Proxima Nova"/>
              </a:defRPr>
            </a:lvl6pPr>
            <a:lvl7pPr lvl="6" algn="r">
              <a:buNone/>
              <a:defRPr sz="1300">
                <a:solidFill>
                  <a:schemeClr val="dk2"/>
                </a:solidFill>
                <a:latin typeface="Proxima Nova"/>
                <a:ea typeface="Proxima Nova"/>
                <a:cs typeface="Proxima Nova"/>
                <a:sym typeface="Proxima Nova"/>
              </a:defRPr>
            </a:lvl7pPr>
            <a:lvl8pPr lvl="7" algn="r">
              <a:buNone/>
              <a:defRPr sz="1300">
                <a:solidFill>
                  <a:schemeClr val="dk2"/>
                </a:solidFill>
                <a:latin typeface="Proxima Nova"/>
                <a:ea typeface="Proxima Nova"/>
                <a:cs typeface="Proxima Nova"/>
                <a:sym typeface="Proxima Nova"/>
              </a:defRPr>
            </a:lvl8pPr>
            <a:lvl9pPr lvl="8" algn="r">
              <a:buNone/>
              <a:defRPr sz="1300">
                <a:solidFill>
                  <a:schemeClr val="dk2"/>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1"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3.png"/><Relationship Id="rId5"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g35064b0fa22_0_50"/>
          <p:cNvSpPr txBox="1">
            <a:spLocks noGrp="1"/>
          </p:cNvSpPr>
          <p:nvPr>
            <p:ph type="title"/>
          </p:nvPr>
        </p:nvSpPr>
        <p:spPr>
          <a:xfrm>
            <a:off x="457550" y="274275"/>
            <a:ext cx="10444800" cy="763500"/>
          </a:xfrm>
          <a:prstGeom prst="rect">
            <a:avLst/>
          </a:prstGeom>
        </p:spPr>
        <p:txBody>
          <a:bodyPr spcFirstLastPara="1" wrap="square" lIns="121900" tIns="121900" rIns="121900" bIns="121900" anchor="t" anchorCtr="0">
            <a:normAutofit fontScale="90000"/>
          </a:bodyPr>
          <a:lstStyle/>
          <a:p>
            <a:pPr marL="0" lvl="0" indent="0" algn="l" rtl="0">
              <a:spcBef>
                <a:spcPts val="0"/>
              </a:spcBef>
              <a:spcAft>
                <a:spcPts val="0"/>
              </a:spcAft>
              <a:buNone/>
            </a:pPr>
            <a:r>
              <a:rPr lang="en-US"/>
              <a:t>Member and contributions</a:t>
            </a:r>
            <a:endParaRPr/>
          </a:p>
        </p:txBody>
      </p:sp>
      <p:sp>
        <p:nvSpPr>
          <p:cNvPr id="207" name="Google Shape;207;g35064b0fa22_0_50"/>
          <p:cNvSpPr txBox="1">
            <a:spLocks noGrp="1"/>
          </p:cNvSpPr>
          <p:nvPr>
            <p:ph type="body" idx="1"/>
          </p:nvPr>
        </p:nvSpPr>
        <p:spPr>
          <a:xfrm>
            <a:off x="457550" y="1825625"/>
            <a:ext cx="3267900" cy="485400"/>
          </a:xfrm>
          <a:prstGeom prst="rect">
            <a:avLst/>
          </a:prstGeom>
        </p:spPr>
        <p:txBody>
          <a:bodyPr spcFirstLastPara="1" wrap="square" lIns="91425" tIns="45700" rIns="91425" bIns="45700" anchor="t" anchorCtr="0">
            <a:noAutofit/>
          </a:bodyPr>
          <a:lstStyle/>
          <a:p>
            <a:pPr marL="0" lvl="0" indent="0" algn="ctr" rtl="0">
              <a:spcBef>
                <a:spcPts val="1000"/>
              </a:spcBef>
              <a:spcAft>
                <a:spcPts val="1600"/>
              </a:spcAft>
              <a:buNone/>
            </a:pPr>
            <a:r>
              <a:rPr lang="en-US" sz="1600" b="1" dirty="0"/>
              <a:t>SATHVIK GAJULA</a:t>
            </a:r>
          </a:p>
        </p:txBody>
      </p:sp>
      <p:sp>
        <p:nvSpPr>
          <p:cNvPr id="208" name="Google Shape;208;g35064b0fa22_0_50"/>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rmAutofit/>
          </a:bodyPr>
          <a:lstStyle/>
          <a:p>
            <a:pPr marL="0" lvl="0" indent="0" algn="r" rtl="0">
              <a:spcBef>
                <a:spcPts val="0"/>
              </a:spcBef>
              <a:spcAft>
                <a:spcPts val="0"/>
              </a:spcAft>
              <a:buClr>
                <a:srgbClr val="000000"/>
              </a:buClr>
              <a:buFont typeface="Arial"/>
              <a:buNone/>
            </a:pPr>
            <a:fld id="{00000000-1234-1234-1234-123412341234}" type="slidenum">
              <a:rPr lang="en-US"/>
              <a:t>1</a:t>
            </a:fld>
            <a:endParaRPr/>
          </a:p>
        </p:txBody>
      </p:sp>
      <p:sp>
        <p:nvSpPr>
          <p:cNvPr id="209" name="Google Shape;209;g35064b0fa22_0_50"/>
          <p:cNvSpPr txBox="1">
            <a:spLocks noGrp="1"/>
          </p:cNvSpPr>
          <p:nvPr>
            <p:ph type="body" idx="1"/>
          </p:nvPr>
        </p:nvSpPr>
        <p:spPr>
          <a:xfrm>
            <a:off x="4701125" y="1825625"/>
            <a:ext cx="6652800" cy="4351200"/>
          </a:xfrm>
          <a:prstGeom prst="rect">
            <a:avLst/>
          </a:prstGeom>
        </p:spPr>
        <p:txBody>
          <a:bodyPr spcFirstLastPara="1" wrap="square" lIns="91425" tIns="45700" rIns="91425" bIns="45700" anchor="t" anchorCtr="0">
            <a:normAutofit fontScale="47500" lnSpcReduction="20000"/>
          </a:bodyPr>
          <a:lstStyle/>
          <a:p>
            <a:pPr marL="0" lvl="0" indent="0" algn="l" rtl="0">
              <a:spcBef>
                <a:spcPts val="1000"/>
              </a:spcBef>
              <a:spcAft>
                <a:spcPts val="0"/>
              </a:spcAft>
              <a:buNone/>
            </a:pPr>
            <a:r>
              <a:rPr lang="en-US" sz="4514" b="1" dirty="0"/>
              <a:t>Contributions:</a:t>
            </a:r>
            <a:endParaRPr sz="4514" b="1" dirty="0"/>
          </a:p>
          <a:p>
            <a:pPr marL="457200" lvl="0" indent="-331787" algn="l" rtl="0">
              <a:lnSpc>
                <a:spcPct val="115000"/>
              </a:lnSpc>
              <a:spcBef>
                <a:spcPts val="1600"/>
              </a:spcBef>
              <a:spcAft>
                <a:spcPts val="0"/>
              </a:spcAft>
              <a:buSzPct val="100000"/>
              <a:buChar char="●"/>
            </a:pPr>
            <a:r>
              <a:rPr lang="en-US" sz="3421" dirty="0">
                <a:solidFill>
                  <a:srgbClr val="000000"/>
                </a:solidFill>
              </a:rPr>
              <a:t>Focused on implementing the baseline approach from the paper "EEG-Based Alzheimer's Disease Recognition Using Robust-PCA and LSTM Recurrent Neural Network" </a:t>
            </a:r>
            <a:endParaRPr sz="3421" dirty="0">
              <a:solidFill>
                <a:srgbClr val="000000"/>
              </a:solidFill>
            </a:endParaRPr>
          </a:p>
          <a:p>
            <a:pPr marL="457200" lvl="0" indent="-331787" algn="l" rtl="0">
              <a:lnSpc>
                <a:spcPct val="115000"/>
              </a:lnSpc>
              <a:spcBef>
                <a:spcPts val="0"/>
              </a:spcBef>
              <a:spcAft>
                <a:spcPts val="0"/>
              </a:spcAft>
              <a:buSzPct val="100000"/>
              <a:buChar char="●"/>
            </a:pPr>
            <a:r>
              <a:rPr lang="en-US" sz="3421" dirty="0">
                <a:solidFill>
                  <a:srgbClr val="000000"/>
                </a:solidFill>
              </a:rPr>
              <a:t>Developed a clean, modular and fully working version of the Baseline model (RNN with LSTM) for Alzheimer's disease detection from EEG signals.</a:t>
            </a:r>
            <a:endParaRPr sz="3421" dirty="0">
              <a:solidFill>
                <a:srgbClr val="000000"/>
              </a:solidFill>
            </a:endParaRPr>
          </a:p>
          <a:p>
            <a:pPr marL="457200" lvl="0" indent="-331787" algn="l" rtl="0">
              <a:lnSpc>
                <a:spcPct val="115000"/>
              </a:lnSpc>
              <a:spcBef>
                <a:spcPts val="0"/>
              </a:spcBef>
              <a:spcAft>
                <a:spcPts val="0"/>
              </a:spcAft>
              <a:buSzPct val="100000"/>
              <a:buChar char="●"/>
            </a:pPr>
            <a:r>
              <a:rPr lang="en-US" sz="3421" dirty="0">
                <a:solidFill>
                  <a:srgbClr val="000000"/>
                </a:solidFill>
              </a:rPr>
              <a:t>Improved original code structure:</a:t>
            </a:r>
            <a:endParaRPr sz="3421" dirty="0">
              <a:solidFill>
                <a:srgbClr val="000000"/>
              </a:solidFill>
            </a:endParaRPr>
          </a:p>
          <a:p>
            <a:pPr marL="914400" lvl="1" indent="-331787" algn="l" rtl="0">
              <a:lnSpc>
                <a:spcPct val="115000"/>
              </a:lnSpc>
              <a:spcBef>
                <a:spcPts val="0"/>
              </a:spcBef>
              <a:spcAft>
                <a:spcPts val="0"/>
              </a:spcAft>
              <a:buClr>
                <a:srgbClr val="000000"/>
              </a:buClr>
              <a:buSzPct val="100000"/>
              <a:buFont typeface="Arial"/>
              <a:buChar char="○"/>
            </a:pPr>
            <a:r>
              <a:rPr lang="en-US" sz="3421" dirty="0">
                <a:solidFill>
                  <a:srgbClr val="000000"/>
                </a:solidFill>
              </a:rPr>
              <a:t>Organized code to allow flexible denoising options and PCA projection.</a:t>
            </a:r>
            <a:endParaRPr sz="3421" dirty="0">
              <a:solidFill>
                <a:srgbClr val="000000"/>
              </a:solidFill>
            </a:endParaRPr>
          </a:p>
          <a:p>
            <a:pPr marL="914400" lvl="1" indent="-331787" algn="l" rtl="0">
              <a:lnSpc>
                <a:spcPct val="115000"/>
              </a:lnSpc>
              <a:spcBef>
                <a:spcPts val="0"/>
              </a:spcBef>
              <a:spcAft>
                <a:spcPts val="0"/>
              </a:spcAft>
              <a:buClr>
                <a:srgbClr val="000000"/>
              </a:buClr>
              <a:buSzPct val="100000"/>
              <a:buFont typeface="Arial"/>
              <a:buChar char="○"/>
            </a:pPr>
            <a:r>
              <a:rPr lang="en-US" sz="3421" dirty="0">
                <a:solidFill>
                  <a:srgbClr val="000000"/>
                </a:solidFill>
              </a:rPr>
              <a:t>Made experimental settings (window size, overlap percentage, PCA usage) easily configurable.</a:t>
            </a:r>
            <a:endParaRPr sz="3421" dirty="0">
              <a:solidFill>
                <a:srgbClr val="000000"/>
              </a:solidFill>
            </a:endParaRPr>
          </a:p>
          <a:p>
            <a:pPr marL="457200" lvl="0" indent="-331787" algn="l" rtl="0">
              <a:lnSpc>
                <a:spcPct val="115000"/>
              </a:lnSpc>
              <a:spcBef>
                <a:spcPts val="0"/>
              </a:spcBef>
              <a:spcAft>
                <a:spcPts val="0"/>
              </a:spcAft>
              <a:buSzPct val="100000"/>
              <a:buChar char="●"/>
            </a:pPr>
            <a:r>
              <a:rPr lang="en-US" sz="3421" dirty="0">
                <a:solidFill>
                  <a:srgbClr val="000000"/>
                </a:solidFill>
              </a:rPr>
              <a:t>Identified and fixed inconsistencies between training and testing found in the authors' initial GitHub code.</a:t>
            </a:r>
            <a:endParaRPr sz="3421" dirty="0">
              <a:solidFill>
                <a:srgbClr val="000000"/>
              </a:solidFill>
            </a:endParaRPr>
          </a:p>
          <a:p>
            <a:pPr marL="457200" lvl="0" indent="-331787" algn="l" rtl="0">
              <a:lnSpc>
                <a:spcPct val="115000"/>
              </a:lnSpc>
              <a:spcBef>
                <a:spcPts val="0"/>
              </a:spcBef>
              <a:spcAft>
                <a:spcPts val="0"/>
              </a:spcAft>
              <a:buSzPct val="100000"/>
              <a:buChar char="●"/>
            </a:pPr>
            <a:r>
              <a:rPr lang="en-US" sz="3421" dirty="0">
                <a:solidFill>
                  <a:srgbClr val="000000"/>
                </a:solidFill>
              </a:rPr>
              <a:t>Generated training logs and saved best models for better reproducibility</a:t>
            </a:r>
            <a:endParaRPr sz="3421" dirty="0">
              <a:solidFill>
                <a:srgbClr val="000000"/>
              </a:solidFill>
            </a:endParaRPr>
          </a:p>
          <a:p>
            <a:pPr marL="457200" lvl="0" indent="0" algn="l" rtl="0">
              <a:spcBef>
                <a:spcPts val="1000"/>
              </a:spcBef>
              <a:spcAft>
                <a:spcPts val="1600"/>
              </a:spcAft>
              <a:buNone/>
            </a:pPr>
            <a:endParaRPr b="1" dirty="0"/>
          </a:p>
        </p:txBody>
      </p:sp>
      <p:sp>
        <p:nvSpPr>
          <p:cNvPr id="210" name="Google Shape;210;g35064b0fa22_0_50"/>
          <p:cNvSpPr txBox="1"/>
          <p:nvPr/>
        </p:nvSpPr>
        <p:spPr>
          <a:xfrm>
            <a:off x="646200" y="5345525"/>
            <a:ext cx="3000000" cy="831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dirty="0">
                <a:latin typeface="Proxima Nova"/>
                <a:ea typeface="Proxima Nova"/>
                <a:cs typeface="Proxima Nova"/>
                <a:sym typeface="Proxima Nova"/>
              </a:rPr>
              <a:t>Z23734253</a:t>
            </a:r>
            <a:endParaRPr dirty="0">
              <a:latin typeface="Proxima Nova"/>
              <a:ea typeface="Proxima Nova"/>
              <a:cs typeface="Proxima Nova"/>
              <a:sym typeface="Proxima Nova"/>
            </a:endParaRPr>
          </a:p>
          <a:p>
            <a:pPr marL="0" lvl="0" indent="0" algn="ctr" rtl="0">
              <a:spcBef>
                <a:spcPts val="0"/>
              </a:spcBef>
              <a:spcAft>
                <a:spcPts val="0"/>
              </a:spcAft>
              <a:buNone/>
            </a:pPr>
            <a:r>
              <a:rPr lang="en-US" dirty="0">
                <a:latin typeface="Proxima Nova"/>
                <a:ea typeface="Proxima Nova"/>
                <a:cs typeface="Proxima Nova"/>
                <a:sym typeface="Proxima Nova"/>
              </a:rPr>
              <a:t>sgajula2023@fau.edu</a:t>
            </a:r>
            <a:endParaRPr dirty="0">
              <a:latin typeface="Proxima Nova"/>
              <a:ea typeface="Proxima Nova"/>
              <a:cs typeface="Proxima Nova"/>
              <a:sym typeface="Proxima Nova"/>
            </a:endParaRPr>
          </a:p>
          <a:p>
            <a:pPr marL="0" lvl="0" indent="0" algn="ctr" rtl="0">
              <a:spcBef>
                <a:spcPts val="0"/>
              </a:spcBef>
              <a:spcAft>
                <a:spcPts val="0"/>
              </a:spcAft>
              <a:buNone/>
            </a:pPr>
            <a:r>
              <a:rPr lang="en-US" dirty="0">
                <a:latin typeface="Proxima Nova"/>
                <a:ea typeface="Proxima Nova"/>
                <a:cs typeface="Proxima Nova"/>
                <a:sym typeface="Proxima Nova"/>
              </a:rPr>
              <a:t>PhD in Computer Science</a:t>
            </a:r>
            <a:endParaRPr dirty="0">
              <a:latin typeface="Proxima Nova"/>
              <a:ea typeface="Proxima Nova"/>
              <a:cs typeface="Proxima Nova"/>
              <a:sym typeface="Proxima Nova"/>
            </a:endParaRPr>
          </a:p>
        </p:txBody>
      </p:sp>
      <p:pic>
        <p:nvPicPr>
          <p:cNvPr id="211" name="Google Shape;211;g35064b0fa22_0_50" title="WhatsApp Image 2025-04-26 at 19.56.32.jpeg"/>
          <p:cNvPicPr preferRelativeResize="0"/>
          <p:nvPr/>
        </p:nvPicPr>
        <p:blipFill>
          <a:blip r:embed="rId5">
            <a:alphaModFix/>
          </a:blip>
          <a:stretch>
            <a:fillRect/>
          </a:stretch>
        </p:blipFill>
        <p:spPr>
          <a:xfrm>
            <a:off x="685800" y="2463425"/>
            <a:ext cx="2865828" cy="2729701"/>
          </a:xfrm>
          <a:prstGeom prst="rect">
            <a:avLst/>
          </a:prstGeom>
          <a:noFill/>
          <a:ln>
            <a:noFill/>
          </a:ln>
        </p:spPr>
      </p:pic>
      <p:pic>
        <p:nvPicPr>
          <p:cNvPr id="35" name="Audio 34">
            <a:extLst>
              <a:ext uri="{FF2B5EF4-FFF2-40B4-BE49-F238E27FC236}">
                <a16:creationId xmlns:a16="http://schemas.microsoft.com/office/drawing/2014/main" id="{3BE46A3E-E9E0-880E-10F5-8D3012791EC7}"/>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163300" y="58293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6812"/>
    </mc:Choice>
    <mc:Fallback xmlns="">
      <p:transition spd="slow" advTm="3681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5"/>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g35064b0fa22_0_42"/>
          <p:cNvSpPr txBox="1">
            <a:spLocks noGrp="1"/>
          </p:cNvSpPr>
          <p:nvPr>
            <p:ph type="title"/>
          </p:nvPr>
        </p:nvSpPr>
        <p:spPr>
          <a:xfrm>
            <a:off x="457550" y="274275"/>
            <a:ext cx="10444800" cy="763500"/>
          </a:xfrm>
          <a:prstGeom prst="rect">
            <a:avLst/>
          </a:prstGeom>
        </p:spPr>
        <p:txBody>
          <a:bodyPr spcFirstLastPara="1" wrap="square" lIns="121900" tIns="121900" rIns="121900" bIns="121900" anchor="t" anchorCtr="0">
            <a:normAutofit fontScale="90000"/>
          </a:bodyPr>
          <a:lstStyle/>
          <a:p>
            <a:pPr marL="0" lvl="0" indent="0" algn="l" rtl="0">
              <a:spcBef>
                <a:spcPts val="0"/>
              </a:spcBef>
              <a:spcAft>
                <a:spcPts val="0"/>
              </a:spcAft>
              <a:buNone/>
            </a:pPr>
            <a:r>
              <a:rPr lang="en-US" dirty="0"/>
              <a:t>Experiment - </a:t>
            </a:r>
            <a:r>
              <a:rPr lang="en-US" dirty="0">
                <a:solidFill>
                  <a:schemeClr val="dk1"/>
                </a:solidFill>
              </a:rPr>
              <a:t>Baseline </a:t>
            </a:r>
            <a:endParaRPr dirty="0">
              <a:solidFill>
                <a:schemeClr val="dk1"/>
              </a:solidFill>
            </a:endParaRPr>
          </a:p>
          <a:p>
            <a:pPr marL="0" lvl="0" indent="0" algn="l" rtl="0">
              <a:spcBef>
                <a:spcPts val="0"/>
              </a:spcBef>
              <a:spcAft>
                <a:spcPts val="0"/>
              </a:spcAft>
              <a:buNone/>
            </a:pPr>
            <a:endParaRPr dirty="0">
              <a:solidFill>
                <a:schemeClr val="dk1"/>
              </a:solidFill>
            </a:endParaRPr>
          </a:p>
        </p:txBody>
      </p:sp>
      <p:sp>
        <p:nvSpPr>
          <p:cNvPr id="217" name="Google Shape;217;g35064b0fa22_0_42"/>
          <p:cNvSpPr txBox="1">
            <a:spLocks noGrp="1"/>
          </p:cNvSpPr>
          <p:nvPr>
            <p:ph type="body" idx="1"/>
          </p:nvPr>
        </p:nvSpPr>
        <p:spPr>
          <a:xfrm>
            <a:off x="838200" y="1536300"/>
            <a:ext cx="10515600" cy="4351200"/>
          </a:xfrm>
          <a:prstGeom prst="rect">
            <a:avLst/>
          </a:prstGeom>
        </p:spPr>
        <p:txBody>
          <a:bodyPr spcFirstLastPara="1" wrap="square" lIns="91425" tIns="45700" rIns="91425" bIns="45700" anchor="t" anchorCtr="0">
            <a:normAutofit fontScale="25000" lnSpcReduction="20000"/>
          </a:bodyPr>
          <a:lstStyle/>
          <a:p>
            <a:pPr marL="0" lvl="0" indent="0" algn="l" rtl="0">
              <a:lnSpc>
                <a:spcPct val="115000"/>
              </a:lnSpc>
              <a:spcBef>
                <a:spcPts val="0"/>
              </a:spcBef>
              <a:spcAft>
                <a:spcPts val="0"/>
              </a:spcAft>
              <a:buNone/>
            </a:pPr>
            <a:r>
              <a:rPr lang="en-US" sz="6400" b="1" dirty="0">
                <a:solidFill>
                  <a:srgbClr val="000000"/>
                </a:solidFill>
              </a:rPr>
              <a:t>What did the authors use?</a:t>
            </a:r>
            <a:endParaRPr sz="6400" b="1" dirty="0">
              <a:solidFill>
                <a:srgbClr val="000000"/>
              </a:solidFill>
            </a:endParaRPr>
          </a:p>
          <a:p>
            <a:pPr marL="0" lvl="0" indent="0" algn="l" rtl="0">
              <a:lnSpc>
                <a:spcPct val="115000"/>
              </a:lnSpc>
              <a:spcBef>
                <a:spcPts val="0"/>
              </a:spcBef>
              <a:spcAft>
                <a:spcPts val="0"/>
              </a:spcAft>
              <a:buNone/>
            </a:pPr>
            <a:r>
              <a:rPr lang="en-US" sz="6400" dirty="0">
                <a:solidFill>
                  <a:srgbClr val="000000"/>
                </a:solidFill>
              </a:rPr>
              <a:t>Dataset: EEG recordings from 15 normal (N) and 20 Alzheimer's Disease (AD) subjects .</a:t>
            </a:r>
            <a:endParaRPr sz="6400" dirty="0">
              <a:solidFill>
                <a:srgbClr val="000000"/>
              </a:solidFill>
            </a:endParaRPr>
          </a:p>
          <a:p>
            <a:pPr marL="0" lvl="0" indent="0" algn="l" rtl="0">
              <a:lnSpc>
                <a:spcPct val="115000"/>
              </a:lnSpc>
              <a:spcBef>
                <a:spcPts val="0"/>
              </a:spcBef>
              <a:spcAft>
                <a:spcPts val="0"/>
              </a:spcAft>
              <a:buNone/>
            </a:pPr>
            <a:r>
              <a:rPr lang="en-US" sz="6400" dirty="0">
                <a:solidFill>
                  <a:srgbClr val="000000"/>
                </a:solidFill>
              </a:rPr>
              <a:t>Preprocessing</a:t>
            </a:r>
            <a:r>
              <a:rPr lang="en-US" sz="6347" dirty="0">
                <a:solidFill>
                  <a:srgbClr val="000000"/>
                </a:solidFill>
              </a:rPr>
              <a:t>:</a:t>
            </a:r>
            <a:endParaRPr sz="6347" dirty="0">
              <a:solidFill>
                <a:srgbClr val="000000"/>
              </a:solidFill>
            </a:endParaRPr>
          </a:p>
          <a:p>
            <a:pPr marL="0" lvl="0" indent="0" algn="l" rtl="0">
              <a:lnSpc>
                <a:spcPct val="115000"/>
              </a:lnSpc>
              <a:spcBef>
                <a:spcPts val="0"/>
              </a:spcBef>
              <a:spcAft>
                <a:spcPts val="0"/>
              </a:spcAft>
              <a:buNone/>
            </a:pPr>
            <a:r>
              <a:rPr lang="en-US" sz="6400" dirty="0">
                <a:solidFill>
                  <a:srgbClr val="000000"/>
                </a:solidFill>
              </a:rPr>
              <a:t>Removal of artificial square waves (pre-start signals).</a:t>
            </a:r>
            <a:endParaRPr sz="6400" dirty="0">
              <a:solidFill>
                <a:srgbClr val="000000"/>
              </a:solidFill>
            </a:endParaRPr>
          </a:p>
          <a:p>
            <a:pPr marL="0" lvl="0" indent="0" algn="l" rtl="0">
              <a:lnSpc>
                <a:spcPct val="115000"/>
              </a:lnSpc>
              <a:spcBef>
                <a:spcPts val="0"/>
              </a:spcBef>
              <a:spcAft>
                <a:spcPts val="0"/>
              </a:spcAft>
              <a:buNone/>
            </a:pPr>
            <a:r>
              <a:rPr lang="en-US" sz="6400" b="1" dirty="0">
                <a:solidFill>
                  <a:srgbClr val="000000"/>
                </a:solidFill>
              </a:rPr>
              <a:t>Statistical standardization</a:t>
            </a:r>
            <a:r>
              <a:rPr lang="en-US" sz="6400" dirty="0">
                <a:solidFill>
                  <a:srgbClr val="000000"/>
                </a:solidFill>
              </a:rPr>
              <a:t> (zero mean, unit variance) on each EEG channel.</a:t>
            </a:r>
            <a:endParaRPr sz="6400" dirty="0">
              <a:solidFill>
                <a:srgbClr val="000000"/>
              </a:solidFill>
            </a:endParaRPr>
          </a:p>
          <a:p>
            <a:pPr marL="0" lvl="0" indent="0" algn="l" rtl="0">
              <a:lnSpc>
                <a:spcPct val="115000"/>
              </a:lnSpc>
              <a:spcBef>
                <a:spcPts val="0"/>
              </a:spcBef>
              <a:spcAft>
                <a:spcPts val="0"/>
              </a:spcAft>
              <a:buNone/>
            </a:pPr>
            <a:r>
              <a:rPr lang="en-US" sz="6400" b="1" dirty="0">
                <a:solidFill>
                  <a:srgbClr val="000000"/>
                </a:solidFill>
              </a:rPr>
              <a:t>Model architecture (Baseline Model):</a:t>
            </a:r>
            <a:endParaRPr sz="6400" b="1" dirty="0">
              <a:solidFill>
                <a:srgbClr val="000000"/>
              </a:solidFill>
            </a:endParaRPr>
          </a:p>
          <a:p>
            <a:pPr marL="0" lvl="0" indent="0" algn="l" rtl="0">
              <a:lnSpc>
                <a:spcPct val="115000"/>
              </a:lnSpc>
              <a:spcBef>
                <a:spcPts val="0"/>
              </a:spcBef>
              <a:spcAft>
                <a:spcPts val="0"/>
              </a:spcAft>
              <a:buNone/>
            </a:pPr>
            <a:r>
              <a:rPr lang="en-US" sz="6400" dirty="0">
                <a:solidFill>
                  <a:srgbClr val="000000"/>
                </a:solidFill>
              </a:rPr>
              <a:t>Two LSTM layers stacked sequentially.</a:t>
            </a:r>
            <a:endParaRPr sz="6400" dirty="0">
              <a:solidFill>
                <a:srgbClr val="000000"/>
              </a:solidFill>
            </a:endParaRPr>
          </a:p>
          <a:p>
            <a:pPr marL="0" lvl="0" indent="0" algn="l" rtl="0">
              <a:lnSpc>
                <a:spcPct val="115000"/>
              </a:lnSpc>
              <a:spcBef>
                <a:spcPts val="0"/>
              </a:spcBef>
              <a:spcAft>
                <a:spcPts val="0"/>
              </a:spcAft>
              <a:buNone/>
            </a:pPr>
            <a:r>
              <a:rPr lang="en-US" sz="6400" dirty="0">
                <a:solidFill>
                  <a:srgbClr val="000000"/>
                </a:solidFill>
              </a:rPr>
              <a:t>Dropout applied between layers to prevent overfitting.</a:t>
            </a:r>
            <a:endParaRPr sz="6400" dirty="0">
              <a:solidFill>
                <a:srgbClr val="000000"/>
              </a:solidFill>
            </a:endParaRPr>
          </a:p>
          <a:p>
            <a:pPr marL="0" lvl="0" indent="0" algn="l" rtl="0">
              <a:lnSpc>
                <a:spcPct val="115000"/>
              </a:lnSpc>
              <a:spcBef>
                <a:spcPts val="0"/>
              </a:spcBef>
              <a:spcAft>
                <a:spcPts val="0"/>
              </a:spcAft>
              <a:buNone/>
            </a:pPr>
            <a:r>
              <a:rPr lang="en-US" sz="6400" dirty="0">
                <a:solidFill>
                  <a:srgbClr val="000000"/>
                </a:solidFill>
              </a:rPr>
              <a:t>Final dense layer (2 neurons) for binary classification (Normal vs. AD).</a:t>
            </a:r>
            <a:endParaRPr sz="6400" dirty="0">
              <a:solidFill>
                <a:srgbClr val="000000"/>
              </a:solidFill>
            </a:endParaRPr>
          </a:p>
          <a:p>
            <a:pPr marL="0" lvl="0" indent="0" algn="l" rtl="0">
              <a:lnSpc>
                <a:spcPct val="115000"/>
              </a:lnSpc>
              <a:spcBef>
                <a:spcPts val="0"/>
              </a:spcBef>
              <a:spcAft>
                <a:spcPts val="0"/>
              </a:spcAft>
              <a:buNone/>
            </a:pPr>
            <a:r>
              <a:rPr lang="en-US" sz="6400" b="1" dirty="0">
                <a:solidFill>
                  <a:srgbClr val="000000"/>
                </a:solidFill>
              </a:rPr>
              <a:t>How did the authors design the experiment?</a:t>
            </a:r>
            <a:endParaRPr sz="6400" b="1" dirty="0">
              <a:solidFill>
                <a:srgbClr val="000000"/>
              </a:solidFill>
            </a:endParaRPr>
          </a:p>
          <a:p>
            <a:pPr marL="0" lvl="0" indent="0" algn="l" rtl="0">
              <a:lnSpc>
                <a:spcPct val="115000"/>
              </a:lnSpc>
              <a:spcBef>
                <a:spcPts val="0"/>
              </a:spcBef>
              <a:spcAft>
                <a:spcPts val="0"/>
              </a:spcAft>
              <a:buNone/>
            </a:pPr>
            <a:r>
              <a:rPr lang="en-US" sz="6400" dirty="0">
                <a:solidFill>
                  <a:srgbClr val="000000"/>
                </a:solidFill>
              </a:rPr>
              <a:t>Input EEG signals were segmented into windows of 128, 256, 384, 512, and 640 samples.</a:t>
            </a:r>
            <a:endParaRPr sz="6400" dirty="0">
              <a:solidFill>
                <a:srgbClr val="000000"/>
              </a:solidFill>
            </a:endParaRPr>
          </a:p>
          <a:p>
            <a:pPr marL="0" lvl="0" indent="0" algn="l" rtl="0">
              <a:lnSpc>
                <a:spcPct val="115000"/>
              </a:lnSpc>
              <a:spcBef>
                <a:spcPts val="0"/>
              </a:spcBef>
              <a:spcAft>
                <a:spcPts val="0"/>
              </a:spcAft>
              <a:buNone/>
            </a:pPr>
            <a:r>
              <a:rPr lang="en-US" sz="6400" dirty="0">
                <a:solidFill>
                  <a:srgbClr val="000000"/>
                </a:solidFill>
              </a:rPr>
              <a:t>Three overlap settings tested: </a:t>
            </a:r>
            <a:r>
              <a:rPr lang="en-US" sz="6400" b="1" dirty="0">
                <a:solidFill>
                  <a:srgbClr val="000000"/>
                </a:solidFill>
              </a:rPr>
              <a:t>0%</a:t>
            </a:r>
            <a:r>
              <a:rPr lang="en-US" sz="6400" dirty="0">
                <a:solidFill>
                  <a:srgbClr val="000000"/>
                </a:solidFill>
              </a:rPr>
              <a:t>, </a:t>
            </a:r>
            <a:r>
              <a:rPr lang="en-US" sz="6400" b="1" dirty="0">
                <a:solidFill>
                  <a:srgbClr val="000000"/>
                </a:solidFill>
              </a:rPr>
              <a:t>25%</a:t>
            </a:r>
            <a:r>
              <a:rPr lang="en-US" sz="6400" dirty="0">
                <a:solidFill>
                  <a:srgbClr val="000000"/>
                </a:solidFill>
              </a:rPr>
              <a:t>, and </a:t>
            </a:r>
            <a:r>
              <a:rPr lang="en-US" sz="6400" b="1" dirty="0">
                <a:solidFill>
                  <a:srgbClr val="000000"/>
                </a:solidFill>
              </a:rPr>
              <a:t>50%</a:t>
            </a:r>
            <a:r>
              <a:rPr lang="en-US" sz="6400" dirty="0">
                <a:solidFill>
                  <a:srgbClr val="000000"/>
                </a:solidFill>
              </a:rPr>
              <a:t> overlap between consecutive windows.</a:t>
            </a:r>
            <a:endParaRPr sz="6400" dirty="0">
              <a:solidFill>
                <a:srgbClr val="000000"/>
              </a:solidFill>
            </a:endParaRPr>
          </a:p>
          <a:p>
            <a:pPr marL="0" lvl="0" indent="0" algn="l" rtl="0">
              <a:lnSpc>
                <a:spcPct val="115000"/>
              </a:lnSpc>
              <a:spcBef>
                <a:spcPts val="0"/>
              </a:spcBef>
              <a:spcAft>
                <a:spcPts val="0"/>
              </a:spcAft>
              <a:buNone/>
            </a:pPr>
            <a:r>
              <a:rPr lang="en-US" sz="6400" dirty="0">
                <a:solidFill>
                  <a:srgbClr val="000000"/>
                </a:solidFill>
              </a:rPr>
              <a:t>Both raw EEG signals and PCA-reduced signals were used for training and testing.</a:t>
            </a:r>
            <a:endParaRPr sz="6400" dirty="0">
              <a:solidFill>
                <a:srgbClr val="000000"/>
              </a:solidFill>
            </a:endParaRPr>
          </a:p>
          <a:p>
            <a:pPr marL="0" lvl="0" indent="0" algn="l" rtl="0">
              <a:lnSpc>
                <a:spcPct val="115000"/>
              </a:lnSpc>
              <a:spcBef>
                <a:spcPts val="0"/>
              </a:spcBef>
              <a:spcAft>
                <a:spcPts val="0"/>
              </a:spcAft>
              <a:buNone/>
            </a:pPr>
            <a:r>
              <a:rPr lang="en-US" sz="6400" dirty="0">
                <a:solidFill>
                  <a:srgbClr val="000000"/>
                </a:solidFill>
              </a:rPr>
              <a:t>10-fold cross-validation across subjects.</a:t>
            </a:r>
            <a:endParaRPr sz="6400" dirty="0">
              <a:solidFill>
                <a:srgbClr val="000000"/>
              </a:solidFill>
            </a:endParaRPr>
          </a:p>
          <a:p>
            <a:pPr marL="0" lvl="0" indent="0" algn="l" rtl="0">
              <a:lnSpc>
                <a:spcPct val="115000"/>
              </a:lnSpc>
              <a:spcBef>
                <a:spcPts val="0"/>
              </a:spcBef>
              <a:spcAft>
                <a:spcPts val="0"/>
              </a:spcAft>
              <a:buNone/>
            </a:pPr>
            <a:r>
              <a:rPr lang="en-US" sz="6400" dirty="0">
                <a:solidFill>
                  <a:srgbClr val="000000"/>
                </a:solidFill>
              </a:rPr>
              <a:t>Denoising techniques:</a:t>
            </a:r>
            <a:endParaRPr sz="6400" dirty="0">
              <a:solidFill>
                <a:srgbClr val="000000"/>
              </a:solidFill>
            </a:endParaRPr>
          </a:p>
          <a:p>
            <a:pPr marL="0" lvl="0" indent="0" algn="l" rtl="0">
              <a:lnSpc>
                <a:spcPct val="115000"/>
              </a:lnSpc>
              <a:spcBef>
                <a:spcPts val="0"/>
              </a:spcBef>
              <a:spcAft>
                <a:spcPts val="0"/>
              </a:spcAft>
              <a:buNone/>
            </a:pPr>
            <a:r>
              <a:rPr lang="en-US" sz="6400" b="1" dirty="0">
                <a:solidFill>
                  <a:srgbClr val="000000"/>
                </a:solidFill>
              </a:rPr>
              <a:t>None</a:t>
            </a:r>
            <a:r>
              <a:rPr lang="en-US" sz="6400" dirty="0">
                <a:solidFill>
                  <a:srgbClr val="000000"/>
                </a:solidFill>
              </a:rPr>
              <a:t> (raw EEG)</a:t>
            </a:r>
            <a:endParaRPr sz="6400" dirty="0">
              <a:solidFill>
                <a:srgbClr val="000000"/>
              </a:solidFill>
            </a:endParaRPr>
          </a:p>
          <a:p>
            <a:pPr marL="0" lvl="0" indent="0" algn="l" rtl="0">
              <a:lnSpc>
                <a:spcPct val="115000"/>
              </a:lnSpc>
              <a:spcBef>
                <a:spcPts val="0"/>
              </a:spcBef>
              <a:spcAft>
                <a:spcPts val="0"/>
              </a:spcAft>
              <a:buNone/>
            </a:pPr>
            <a:r>
              <a:rPr lang="en-US" sz="6400" b="1" dirty="0">
                <a:solidFill>
                  <a:srgbClr val="000000"/>
                </a:solidFill>
              </a:rPr>
              <a:t>RPCA</a:t>
            </a:r>
            <a:r>
              <a:rPr lang="en-US" sz="6400" dirty="0">
                <a:solidFill>
                  <a:srgbClr val="000000"/>
                </a:solidFill>
              </a:rPr>
              <a:t> (Robust Principal Component Analysis)</a:t>
            </a:r>
            <a:endParaRPr sz="6400" dirty="0">
              <a:solidFill>
                <a:srgbClr val="000000"/>
              </a:solidFill>
            </a:endParaRPr>
          </a:p>
          <a:p>
            <a:pPr marL="0" lvl="0" indent="0" algn="l" rtl="0">
              <a:lnSpc>
                <a:spcPct val="115000"/>
              </a:lnSpc>
              <a:spcBef>
                <a:spcPts val="0"/>
              </a:spcBef>
              <a:spcAft>
                <a:spcPts val="0"/>
              </a:spcAft>
              <a:buNone/>
            </a:pPr>
            <a:r>
              <a:rPr lang="en-US" sz="6400" b="1" dirty="0">
                <a:solidFill>
                  <a:srgbClr val="000000"/>
                </a:solidFill>
              </a:rPr>
              <a:t>MSPCA</a:t>
            </a:r>
            <a:r>
              <a:rPr lang="en-US" sz="6400" dirty="0">
                <a:solidFill>
                  <a:srgbClr val="000000"/>
                </a:solidFill>
              </a:rPr>
              <a:t> (Multi-Scale PCA)</a:t>
            </a:r>
            <a:endParaRPr sz="6400" dirty="0">
              <a:solidFill>
                <a:srgbClr val="000000"/>
              </a:solidFill>
            </a:endParaRPr>
          </a:p>
          <a:p>
            <a:pPr marL="0" lvl="0" indent="0" algn="l" rtl="0">
              <a:spcBef>
                <a:spcPts val="1000"/>
              </a:spcBef>
              <a:spcAft>
                <a:spcPts val="0"/>
              </a:spcAft>
              <a:buNone/>
            </a:pPr>
            <a:endParaRPr sz="3578" dirty="0"/>
          </a:p>
          <a:p>
            <a:pPr marL="0" lvl="0" indent="0" algn="l" rtl="0">
              <a:spcBef>
                <a:spcPts val="1600"/>
              </a:spcBef>
              <a:spcAft>
                <a:spcPts val="0"/>
              </a:spcAft>
              <a:buNone/>
            </a:pPr>
            <a:endParaRPr dirty="0"/>
          </a:p>
          <a:p>
            <a:pPr marL="0" lvl="0" indent="0" algn="l" rtl="0">
              <a:spcBef>
                <a:spcPts val="1600"/>
              </a:spcBef>
              <a:spcAft>
                <a:spcPts val="1600"/>
              </a:spcAft>
              <a:buNone/>
            </a:pPr>
            <a:endParaRPr dirty="0"/>
          </a:p>
        </p:txBody>
      </p:sp>
      <p:sp>
        <p:nvSpPr>
          <p:cNvPr id="218" name="Google Shape;218;g35064b0fa22_0_42"/>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rm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pic>
        <p:nvPicPr>
          <p:cNvPr id="38" name="Google Shape;294;g34140528a88_0_0">
            <a:extLst>
              <a:ext uri="{FF2B5EF4-FFF2-40B4-BE49-F238E27FC236}">
                <a16:creationId xmlns:a16="http://schemas.microsoft.com/office/drawing/2014/main" id="{138CC921-DF50-7D4C-8DAF-22F3AB5DE1D7}"/>
              </a:ext>
            </a:extLst>
          </p:cNvPr>
          <p:cNvPicPr preferRelativeResize="0"/>
          <p:nvPr/>
        </p:nvPicPr>
        <p:blipFill>
          <a:blip r:embed="rId5">
            <a:alphaModFix/>
          </a:blip>
          <a:stretch>
            <a:fillRect/>
          </a:stretch>
        </p:blipFill>
        <p:spPr>
          <a:xfrm>
            <a:off x="8897141" y="1258024"/>
            <a:ext cx="3078959" cy="2696140"/>
          </a:xfrm>
          <a:prstGeom prst="rect">
            <a:avLst/>
          </a:prstGeom>
          <a:noFill/>
          <a:ln>
            <a:noFill/>
          </a:ln>
        </p:spPr>
      </p:pic>
      <p:pic>
        <p:nvPicPr>
          <p:cNvPr id="197" name="Audio 196">
            <a:extLst>
              <a:ext uri="{FF2B5EF4-FFF2-40B4-BE49-F238E27FC236}">
                <a16:creationId xmlns:a16="http://schemas.microsoft.com/office/drawing/2014/main" id="{564388B1-FD42-3C11-C8B9-19DBF05B766D}"/>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163300" y="58293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2359"/>
    </mc:Choice>
    <mc:Fallback xmlns="">
      <p:transition spd="slow" advTm="3235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9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97"/>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g340f8e6e69a_0_118"/>
          <p:cNvSpPr txBox="1">
            <a:spLocks noGrp="1"/>
          </p:cNvSpPr>
          <p:nvPr>
            <p:ph type="title"/>
          </p:nvPr>
        </p:nvSpPr>
        <p:spPr>
          <a:xfrm>
            <a:off x="457550" y="274275"/>
            <a:ext cx="10444800" cy="763500"/>
          </a:xfrm>
          <a:prstGeom prst="rect">
            <a:avLst/>
          </a:prstGeom>
        </p:spPr>
        <p:txBody>
          <a:bodyPr spcFirstLastPara="1" wrap="square" lIns="121900" tIns="121900" rIns="121900" bIns="121900" anchor="t" anchorCtr="0">
            <a:normAutofit fontScale="90000"/>
          </a:bodyPr>
          <a:lstStyle/>
          <a:p>
            <a:pPr marL="0" lvl="0" indent="0" algn="l" rtl="0">
              <a:spcBef>
                <a:spcPts val="0"/>
              </a:spcBef>
              <a:spcAft>
                <a:spcPts val="0"/>
              </a:spcAft>
              <a:buNone/>
            </a:pPr>
            <a:r>
              <a:rPr lang="en-US" dirty="0"/>
              <a:t>Baseline - </a:t>
            </a:r>
            <a:r>
              <a:rPr lang="en-US" dirty="0">
                <a:solidFill>
                  <a:schemeClr val="dk1"/>
                </a:solidFill>
              </a:rPr>
              <a:t>Model implementation</a:t>
            </a:r>
            <a:r>
              <a:rPr lang="en-US" dirty="0"/>
              <a:t> </a:t>
            </a:r>
            <a:endParaRPr dirty="0">
              <a:solidFill>
                <a:schemeClr val="dk1"/>
              </a:solidFill>
            </a:endParaRPr>
          </a:p>
          <a:p>
            <a:pPr marL="0" lvl="0" indent="0" algn="l" rtl="0">
              <a:spcBef>
                <a:spcPts val="0"/>
              </a:spcBef>
              <a:spcAft>
                <a:spcPts val="0"/>
              </a:spcAft>
              <a:buNone/>
            </a:pPr>
            <a:endParaRPr dirty="0"/>
          </a:p>
        </p:txBody>
      </p:sp>
      <p:sp>
        <p:nvSpPr>
          <p:cNvPr id="224" name="Google Shape;224;g340f8e6e69a_0_118"/>
          <p:cNvSpPr txBox="1">
            <a:spLocks noGrp="1"/>
          </p:cNvSpPr>
          <p:nvPr>
            <p:ph type="body" idx="1"/>
          </p:nvPr>
        </p:nvSpPr>
        <p:spPr>
          <a:xfrm>
            <a:off x="838200" y="1355650"/>
            <a:ext cx="10515600" cy="48645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None/>
            </a:pPr>
            <a:r>
              <a:rPr lang="en-US" sz="1500" b="1" dirty="0">
                <a:solidFill>
                  <a:srgbClr val="000000"/>
                </a:solidFill>
              </a:rPr>
              <a:t>How the code from GitHub was implemented:</a:t>
            </a:r>
            <a:endParaRPr sz="1500" b="1" dirty="0">
              <a:solidFill>
                <a:srgbClr val="000000"/>
              </a:solidFill>
            </a:endParaRPr>
          </a:p>
          <a:p>
            <a:pPr marL="0" lvl="0" indent="0" algn="l" rtl="0">
              <a:lnSpc>
                <a:spcPct val="115000"/>
              </a:lnSpc>
              <a:spcBef>
                <a:spcPts val="0"/>
              </a:spcBef>
              <a:spcAft>
                <a:spcPts val="0"/>
              </a:spcAft>
              <a:buNone/>
            </a:pPr>
            <a:r>
              <a:rPr lang="en-US" sz="1500" dirty="0">
                <a:solidFill>
                  <a:srgbClr val="000000"/>
                </a:solidFill>
              </a:rPr>
              <a:t>We started by re-implementing the </a:t>
            </a:r>
            <a:r>
              <a:rPr lang="en-US" sz="1500" b="1" dirty="0">
                <a:solidFill>
                  <a:srgbClr val="000000"/>
                </a:solidFill>
              </a:rPr>
              <a:t>baseline LSTM model</a:t>
            </a:r>
            <a:r>
              <a:rPr lang="en-US" sz="1500" dirty="0">
                <a:solidFill>
                  <a:srgbClr val="000000"/>
                </a:solidFill>
              </a:rPr>
              <a:t> described in the paper.</a:t>
            </a:r>
            <a:endParaRPr sz="1500" dirty="0">
              <a:solidFill>
                <a:srgbClr val="000000"/>
              </a:solidFill>
            </a:endParaRPr>
          </a:p>
          <a:p>
            <a:pPr marL="0" lvl="0" indent="0" algn="l" rtl="0">
              <a:lnSpc>
                <a:spcPct val="115000"/>
              </a:lnSpc>
              <a:spcBef>
                <a:spcPts val="0"/>
              </a:spcBef>
              <a:spcAft>
                <a:spcPts val="0"/>
              </a:spcAft>
              <a:buNone/>
            </a:pPr>
            <a:r>
              <a:rPr lang="en-US" sz="1500" dirty="0">
                <a:solidFill>
                  <a:srgbClr val="000000"/>
                </a:solidFill>
              </a:rPr>
              <a:t>Python 3 and TensorFlow 2.18.0 were used for building and training the models.</a:t>
            </a:r>
            <a:endParaRPr sz="1500" dirty="0">
              <a:solidFill>
                <a:srgbClr val="000000"/>
              </a:solidFill>
            </a:endParaRPr>
          </a:p>
          <a:p>
            <a:pPr marL="0" lvl="0" indent="0" algn="l" rtl="0">
              <a:lnSpc>
                <a:spcPct val="115000"/>
              </a:lnSpc>
              <a:spcBef>
                <a:spcPts val="0"/>
              </a:spcBef>
              <a:spcAft>
                <a:spcPts val="0"/>
              </a:spcAft>
              <a:buNone/>
            </a:pPr>
            <a:r>
              <a:rPr lang="en-US" sz="1500" dirty="0">
                <a:solidFill>
                  <a:srgbClr val="000000"/>
                </a:solidFill>
              </a:rPr>
              <a:t>Supporting libraries included NumPy, Scikit-learn, Matplotlib.</a:t>
            </a:r>
            <a:endParaRPr sz="1500" dirty="0">
              <a:solidFill>
                <a:srgbClr val="000000"/>
              </a:solidFill>
            </a:endParaRPr>
          </a:p>
          <a:p>
            <a:pPr marL="0" lvl="0" indent="0" algn="l" rtl="0">
              <a:lnSpc>
                <a:spcPct val="115000"/>
              </a:lnSpc>
              <a:spcBef>
                <a:spcPts val="0"/>
              </a:spcBef>
              <a:spcAft>
                <a:spcPts val="0"/>
              </a:spcAft>
              <a:buNone/>
            </a:pPr>
            <a:r>
              <a:rPr lang="en-US" sz="1500" dirty="0">
                <a:solidFill>
                  <a:srgbClr val="000000"/>
                </a:solidFill>
              </a:rPr>
              <a:t>The original paper’s procedure was manually replicated from scratch.</a:t>
            </a:r>
            <a:endParaRPr sz="1500" dirty="0">
              <a:solidFill>
                <a:srgbClr val="000000"/>
              </a:solidFill>
            </a:endParaRPr>
          </a:p>
          <a:p>
            <a:pPr marL="0" lvl="0" indent="0" algn="l" rtl="0">
              <a:lnSpc>
                <a:spcPct val="115000"/>
              </a:lnSpc>
              <a:spcBef>
                <a:spcPts val="0"/>
              </a:spcBef>
              <a:spcAft>
                <a:spcPts val="0"/>
              </a:spcAft>
              <a:buNone/>
            </a:pPr>
            <a:endParaRPr sz="1500" dirty="0">
              <a:solidFill>
                <a:srgbClr val="000000"/>
              </a:solidFill>
            </a:endParaRPr>
          </a:p>
          <a:p>
            <a:pPr marL="0" lvl="0" indent="0" algn="l" rtl="0">
              <a:lnSpc>
                <a:spcPct val="115000"/>
              </a:lnSpc>
              <a:spcBef>
                <a:spcPts val="0"/>
              </a:spcBef>
              <a:spcAft>
                <a:spcPts val="0"/>
              </a:spcAft>
              <a:buNone/>
            </a:pPr>
            <a:r>
              <a:rPr lang="en-US" sz="1500" b="1" dirty="0">
                <a:solidFill>
                  <a:srgbClr val="000000"/>
                </a:solidFill>
              </a:rPr>
              <a:t>Modifications were made to run successfully:</a:t>
            </a:r>
            <a:endParaRPr sz="1500" b="1" dirty="0">
              <a:solidFill>
                <a:srgbClr val="000000"/>
              </a:solidFill>
            </a:endParaRPr>
          </a:p>
          <a:p>
            <a:pPr marL="0" lvl="0" indent="0" algn="l" rtl="0">
              <a:lnSpc>
                <a:spcPct val="115000"/>
              </a:lnSpc>
              <a:spcBef>
                <a:spcPts val="0"/>
              </a:spcBef>
              <a:spcAft>
                <a:spcPts val="0"/>
              </a:spcAft>
              <a:buNone/>
            </a:pPr>
            <a:r>
              <a:rPr lang="en-US" sz="1500" b="1" dirty="0">
                <a:solidFill>
                  <a:srgbClr val="000000"/>
                </a:solidFill>
              </a:rPr>
              <a:t>Preprocessing and Denoising</a:t>
            </a:r>
            <a:r>
              <a:rPr lang="en-US" sz="1500" dirty="0">
                <a:solidFill>
                  <a:srgbClr val="000000"/>
                </a:solidFill>
              </a:rPr>
              <a:t>:</a:t>
            </a:r>
            <a:endParaRPr sz="1500" dirty="0">
              <a:solidFill>
                <a:srgbClr val="000000"/>
              </a:solidFill>
            </a:endParaRPr>
          </a:p>
          <a:p>
            <a:pPr marL="0" lvl="0" indent="0" algn="l" rtl="0">
              <a:lnSpc>
                <a:spcPct val="115000"/>
              </a:lnSpc>
              <a:spcBef>
                <a:spcPts val="0"/>
              </a:spcBef>
              <a:spcAft>
                <a:spcPts val="0"/>
              </a:spcAft>
              <a:buNone/>
            </a:pPr>
            <a:r>
              <a:rPr lang="en-US" sz="1500" dirty="0">
                <a:solidFill>
                  <a:srgbClr val="000000"/>
                </a:solidFill>
              </a:rPr>
              <a:t>Developed custom module for Robust PCA (</a:t>
            </a:r>
            <a:r>
              <a:rPr lang="en-US" sz="1500" dirty="0" err="1">
                <a:solidFill>
                  <a:srgbClr val="000000"/>
                </a:solidFill>
              </a:rPr>
              <a:t>r_pca.py</a:t>
            </a:r>
            <a:r>
              <a:rPr lang="en-US" sz="1500" dirty="0">
                <a:solidFill>
                  <a:srgbClr val="000000"/>
                </a:solidFill>
              </a:rPr>
              <a:t>) </a:t>
            </a:r>
          </a:p>
          <a:p>
            <a:pPr marL="0" lvl="0" indent="0" algn="l" rtl="0">
              <a:lnSpc>
                <a:spcPct val="115000"/>
              </a:lnSpc>
              <a:spcBef>
                <a:spcPts val="0"/>
              </a:spcBef>
              <a:spcAft>
                <a:spcPts val="0"/>
              </a:spcAft>
              <a:buNone/>
            </a:pPr>
            <a:r>
              <a:rPr lang="en-US" sz="1500" b="1" dirty="0">
                <a:solidFill>
                  <a:srgbClr val="000000"/>
                </a:solidFill>
              </a:rPr>
              <a:t>Standardization</a:t>
            </a:r>
            <a:r>
              <a:rPr lang="en-US" sz="1500" dirty="0">
                <a:solidFill>
                  <a:srgbClr val="000000"/>
                </a:solidFill>
              </a:rPr>
              <a:t>:</a:t>
            </a:r>
            <a:endParaRPr sz="1500" dirty="0">
              <a:solidFill>
                <a:srgbClr val="000000"/>
              </a:solidFill>
            </a:endParaRPr>
          </a:p>
          <a:p>
            <a:pPr marL="0" lvl="0" indent="0" algn="l" rtl="0">
              <a:lnSpc>
                <a:spcPct val="115000"/>
              </a:lnSpc>
              <a:spcBef>
                <a:spcPts val="0"/>
              </a:spcBef>
              <a:spcAft>
                <a:spcPts val="0"/>
              </a:spcAft>
              <a:buNone/>
            </a:pPr>
            <a:r>
              <a:rPr lang="en-US" sz="1500" dirty="0">
                <a:solidFill>
                  <a:srgbClr val="000000"/>
                </a:solidFill>
              </a:rPr>
              <a:t>Applied per-channel standardization (mean = 0, std = 1) to match the experimental setup described by the authors.</a:t>
            </a:r>
            <a:endParaRPr sz="1500" dirty="0">
              <a:solidFill>
                <a:srgbClr val="000000"/>
              </a:solidFill>
            </a:endParaRPr>
          </a:p>
          <a:p>
            <a:pPr marL="0" lvl="0" indent="0" algn="l" rtl="0">
              <a:lnSpc>
                <a:spcPct val="115000"/>
              </a:lnSpc>
              <a:spcBef>
                <a:spcPts val="0"/>
              </a:spcBef>
              <a:spcAft>
                <a:spcPts val="0"/>
              </a:spcAft>
              <a:buNone/>
            </a:pPr>
            <a:r>
              <a:rPr lang="en-US" sz="1500" b="1" dirty="0">
                <a:solidFill>
                  <a:srgbClr val="000000"/>
                </a:solidFill>
              </a:rPr>
              <a:t>Window Overlap and Sizes</a:t>
            </a:r>
            <a:r>
              <a:rPr lang="en-US" sz="1500" dirty="0">
                <a:solidFill>
                  <a:srgbClr val="000000"/>
                </a:solidFill>
              </a:rPr>
              <a:t>:</a:t>
            </a:r>
            <a:endParaRPr sz="1500" dirty="0">
              <a:solidFill>
                <a:srgbClr val="000000"/>
              </a:solidFill>
            </a:endParaRPr>
          </a:p>
          <a:p>
            <a:pPr marL="0" lvl="0" indent="0" algn="l" rtl="0">
              <a:lnSpc>
                <a:spcPct val="115000"/>
              </a:lnSpc>
              <a:spcBef>
                <a:spcPts val="0"/>
              </a:spcBef>
              <a:spcAft>
                <a:spcPts val="0"/>
              </a:spcAft>
              <a:buNone/>
            </a:pPr>
            <a:r>
              <a:rPr lang="en-US" sz="1500" dirty="0">
                <a:solidFill>
                  <a:srgbClr val="000000"/>
                </a:solidFill>
              </a:rPr>
              <a:t>Implemented fixed window sizes and overlaps exactly as in the paper.</a:t>
            </a:r>
            <a:endParaRPr sz="1500" dirty="0">
              <a:solidFill>
                <a:srgbClr val="000000"/>
              </a:solidFill>
            </a:endParaRPr>
          </a:p>
          <a:p>
            <a:pPr marL="0" lvl="0" indent="0" algn="l" rtl="0">
              <a:lnSpc>
                <a:spcPct val="115000"/>
              </a:lnSpc>
              <a:spcBef>
                <a:spcPts val="0"/>
              </a:spcBef>
              <a:spcAft>
                <a:spcPts val="0"/>
              </a:spcAft>
              <a:buNone/>
            </a:pPr>
            <a:r>
              <a:rPr lang="en-US" sz="1500" b="1" dirty="0">
                <a:solidFill>
                  <a:srgbClr val="000000"/>
                </a:solidFill>
              </a:rPr>
              <a:t>Logging Improvements</a:t>
            </a:r>
            <a:r>
              <a:rPr lang="en-US" sz="1500" dirty="0">
                <a:solidFill>
                  <a:srgbClr val="000000"/>
                </a:solidFill>
              </a:rPr>
              <a:t>:</a:t>
            </a:r>
            <a:endParaRPr sz="1500" dirty="0">
              <a:solidFill>
                <a:srgbClr val="000000"/>
              </a:solidFill>
            </a:endParaRPr>
          </a:p>
          <a:p>
            <a:pPr marL="0" lvl="0" indent="0" algn="l" rtl="0">
              <a:lnSpc>
                <a:spcPct val="115000"/>
              </a:lnSpc>
              <a:spcBef>
                <a:spcPts val="0"/>
              </a:spcBef>
              <a:spcAft>
                <a:spcPts val="0"/>
              </a:spcAft>
              <a:buNone/>
            </a:pPr>
            <a:r>
              <a:rPr lang="en-US" sz="1500" dirty="0">
                <a:solidFill>
                  <a:srgbClr val="000000"/>
                </a:solidFill>
              </a:rPr>
              <a:t>Configured training logs and evaluation results to be saved in separate files for each scenario.</a:t>
            </a:r>
            <a:endParaRPr sz="1500" dirty="0">
              <a:solidFill>
                <a:srgbClr val="000000"/>
              </a:solidFill>
            </a:endParaRPr>
          </a:p>
          <a:p>
            <a:pPr marL="0" lvl="0" indent="0" algn="l" rtl="0">
              <a:lnSpc>
                <a:spcPct val="115000"/>
              </a:lnSpc>
              <a:spcBef>
                <a:spcPts val="0"/>
              </a:spcBef>
              <a:spcAft>
                <a:spcPts val="0"/>
              </a:spcAft>
              <a:buNone/>
            </a:pPr>
            <a:r>
              <a:rPr lang="en-US" sz="1500" b="1" dirty="0">
                <a:solidFill>
                  <a:srgbClr val="000000"/>
                </a:solidFill>
              </a:rPr>
              <a:t>Error Handling and Code Corrections</a:t>
            </a:r>
            <a:r>
              <a:rPr lang="en-US" sz="1500" dirty="0">
                <a:solidFill>
                  <a:srgbClr val="000000"/>
                </a:solidFill>
              </a:rPr>
              <a:t>:</a:t>
            </a:r>
            <a:endParaRPr sz="1500" dirty="0">
              <a:solidFill>
                <a:srgbClr val="000000"/>
              </a:solidFill>
            </a:endParaRPr>
          </a:p>
          <a:p>
            <a:pPr marL="0" lvl="0" indent="0" algn="l" rtl="0">
              <a:lnSpc>
                <a:spcPct val="115000"/>
              </a:lnSpc>
              <a:spcBef>
                <a:spcPts val="0"/>
              </a:spcBef>
              <a:spcAft>
                <a:spcPts val="0"/>
              </a:spcAft>
              <a:buNone/>
            </a:pPr>
            <a:r>
              <a:rPr lang="en-US" sz="1500" dirty="0">
                <a:solidFill>
                  <a:srgbClr val="000000"/>
                </a:solidFill>
              </a:rPr>
              <a:t>Fixed missing argument issues (</a:t>
            </a:r>
            <a:r>
              <a:rPr lang="en-US" sz="1500" dirty="0" err="1">
                <a:solidFill>
                  <a:srgbClr val="000000"/>
                </a:solidFill>
              </a:rPr>
              <a:t>model_type</a:t>
            </a:r>
            <a:r>
              <a:rPr lang="en-US" sz="1500" dirty="0">
                <a:solidFill>
                  <a:srgbClr val="000000"/>
                </a:solidFill>
              </a:rPr>
              <a:t>, </a:t>
            </a:r>
            <a:r>
              <a:rPr lang="en-US" sz="1500" dirty="0" err="1">
                <a:solidFill>
                  <a:srgbClr val="000000"/>
                </a:solidFill>
              </a:rPr>
              <a:t>denoise_method</a:t>
            </a:r>
            <a:r>
              <a:rPr lang="en-US" sz="1500" dirty="0">
                <a:solidFill>
                  <a:srgbClr val="000000"/>
                </a:solidFill>
              </a:rPr>
              <a:t>, </a:t>
            </a:r>
            <a:r>
              <a:rPr lang="en-US" sz="1500" dirty="0" err="1">
                <a:solidFill>
                  <a:srgbClr val="000000"/>
                </a:solidFill>
              </a:rPr>
              <a:t>overlap_pct</a:t>
            </a:r>
            <a:r>
              <a:rPr lang="en-US" sz="1500" dirty="0">
                <a:solidFill>
                  <a:srgbClr val="000000"/>
                </a:solidFill>
              </a:rPr>
              <a:t>) and ensured correct logging without overwriting.</a:t>
            </a:r>
            <a:endParaRPr sz="1500" dirty="0">
              <a:solidFill>
                <a:srgbClr val="000000"/>
              </a:solidFill>
            </a:endParaRPr>
          </a:p>
          <a:p>
            <a:pPr marL="457200" lvl="0" indent="0" algn="l" rtl="0">
              <a:spcBef>
                <a:spcPts val="1000"/>
              </a:spcBef>
              <a:spcAft>
                <a:spcPts val="1600"/>
              </a:spcAft>
              <a:buNone/>
            </a:pPr>
            <a:endParaRPr sz="1500" dirty="0"/>
          </a:p>
        </p:txBody>
      </p:sp>
      <p:sp>
        <p:nvSpPr>
          <p:cNvPr id="225" name="Google Shape;225;g340f8e6e69a_0_118"/>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rm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pic>
        <p:nvPicPr>
          <p:cNvPr id="18" name="Google Shape;301;g34140528a88_0_7">
            <a:extLst>
              <a:ext uri="{FF2B5EF4-FFF2-40B4-BE49-F238E27FC236}">
                <a16:creationId xmlns:a16="http://schemas.microsoft.com/office/drawing/2014/main" id="{553A8EBC-BD2D-DCC1-C8A4-B05C2D036FDE}"/>
              </a:ext>
            </a:extLst>
          </p:cNvPr>
          <p:cNvPicPr preferRelativeResize="0"/>
          <p:nvPr/>
        </p:nvPicPr>
        <p:blipFill>
          <a:blip r:embed="rId5">
            <a:alphaModFix/>
          </a:blip>
          <a:stretch>
            <a:fillRect/>
          </a:stretch>
        </p:blipFill>
        <p:spPr>
          <a:xfrm>
            <a:off x="8127314" y="1590134"/>
            <a:ext cx="3685745" cy="2413455"/>
          </a:xfrm>
          <a:prstGeom prst="rect">
            <a:avLst/>
          </a:prstGeom>
          <a:noFill/>
          <a:ln>
            <a:noFill/>
          </a:ln>
        </p:spPr>
      </p:pic>
      <p:sp>
        <p:nvSpPr>
          <p:cNvPr id="19" name="TextBox 18">
            <a:extLst>
              <a:ext uri="{FF2B5EF4-FFF2-40B4-BE49-F238E27FC236}">
                <a16:creationId xmlns:a16="http://schemas.microsoft.com/office/drawing/2014/main" id="{A52037F1-D0F7-E82C-C4E0-A0D0F728CA27}"/>
              </a:ext>
            </a:extLst>
          </p:cNvPr>
          <p:cNvSpPr txBox="1"/>
          <p:nvPr/>
        </p:nvSpPr>
        <p:spPr>
          <a:xfrm>
            <a:off x="9639798" y="1282357"/>
            <a:ext cx="694421" cy="307777"/>
          </a:xfrm>
          <a:prstGeom prst="rect">
            <a:avLst/>
          </a:prstGeom>
          <a:noFill/>
        </p:spPr>
        <p:txBody>
          <a:bodyPr wrap="none" rtlCol="0">
            <a:spAutoFit/>
          </a:bodyPr>
          <a:lstStyle/>
          <a:p>
            <a:r>
              <a:rPr lang="en-US" b="1" dirty="0"/>
              <a:t>RPCA</a:t>
            </a:r>
          </a:p>
        </p:txBody>
      </p:sp>
      <p:pic>
        <p:nvPicPr>
          <p:cNvPr id="28" name="Audio 27">
            <a:extLst>
              <a:ext uri="{FF2B5EF4-FFF2-40B4-BE49-F238E27FC236}">
                <a16:creationId xmlns:a16="http://schemas.microsoft.com/office/drawing/2014/main" id="{2E35D348-2115-916E-CC22-D204D696A0EF}"/>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163300" y="58293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414"/>
    </mc:Choice>
    <mc:Fallback xmlns="">
      <p:transition spd="slow" advTm="3041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8"/>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g356b12e0378_2_18"/>
          <p:cNvSpPr txBox="1">
            <a:spLocks noGrp="1"/>
          </p:cNvSpPr>
          <p:nvPr>
            <p:ph type="title"/>
          </p:nvPr>
        </p:nvSpPr>
        <p:spPr>
          <a:xfrm>
            <a:off x="457550" y="274275"/>
            <a:ext cx="10444800" cy="763500"/>
          </a:xfrm>
          <a:prstGeom prst="rect">
            <a:avLst/>
          </a:prstGeom>
        </p:spPr>
        <p:txBody>
          <a:bodyPr spcFirstLastPara="1" wrap="square" lIns="121900" tIns="121900" rIns="121900" bIns="121900" anchor="t" anchorCtr="0">
            <a:normAutofit fontScale="90000"/>
          </a:bodyPr>
          <a:lstStyle/>
          <a:p>
            <a:pPr marL="0" lvl="0" indent="0" algn="l" rtl="0">
              <a:spcBef>
                <a:spcPts val="0"/>
              </a:spcBef>
              <a:spcAft>
                <a:spcPts val="0"/>
              </a:spcAft>
              <a:buNone/>
            </a:pPr>
            <a:r>
              <a:rPr lang="en-US" dirty="0"/>
              <a:t>Experimental Setup &amp; Evaluation Metrics </a:t>
            </a:r>
            <a:endParaRPr dirty="0">
              <a:solidFill>
                <a:schemeClr val="dk1"/>
              </a:solidFill>
            </a:endParaRPr>
          </a:p>
          <a:p>
            <a:pPr marL="0" lvl="0" indent="0" algn="l" rtl="0">
              <a:spcBef>
                <a:spcPts val="0"/>
              </a:spcBef>
              <a:spcAft>
                <a:spcPts val="0"/>
              </a:spcAft>
              <a:buNone/>
            </a:pPr>
            <a:endParaRPr dirty="0"/>
          </a:p>
        </p:txBody>
      </p:sp>
      <p:sp>
        <p:nvSpPr>
          <p:cNvPr id="231" name="Google Shape;231;g356b12e0378_2_18"/>
          <p:cNvSpPr txBox="1">
            <a:spLocks noGrp="1"/>
          </p:cNvSpPr>
          <p:nvPr>
            <p:ph type="body" idx="1"/>
          </p:nvPr>
        </p:nvSpPr>
        <p:spPr>
          <a:xfrm>
            <a:off x="838200" y="1536299"/>
            <a:ext cx="10515600" cy="4617365"/>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None/>
            </a:pPr>
            <a:r>
              <a:rPr lang="en-US" sz="1400" b="1" dirty="0">
                <a:solidFill>
                  <a:srgbClr val="000000"/>
                </a:solidFill>
              </a:rPr>
              <a:t>Experimental Setup</a:t>
            </a:r>
            <a:r>
              <a:rPr lang="en-US" sz="1400" dirty="0">
                <a:solidFill>
                  <a:srgbClr val="000000"/>
                </a:solidFill>
              </a:rPr>
              <a:t>:</a:t>
            </a:r>
            <a:endParaRPr lang="en-IN" sz="1400" dirty="0">
              <a:solidFill>
                <a:srgbClr val="000000"/>
              </a:solidFill>
            </a:endParaRPr>
          </a:p>
          <a:p>
            <a:pPr marL="457200" lvl="0" indent="-311161" algn="l" rtl="0">
              <a:lnSpc>
                <a:spcPct val="115000"/>
              </a:lnSpc>
              <a:spcBef>
                <a:spcPts val="0"/>
              </a:spcBef>
              <a:spcAft>
                <a:spcPts val="0"/>
              </a:spcAft>
              <a:buClr>
                <a:srgbClr val="000000"/>
              </a:buClr>
              <a:buSzPct val="100000"/>
              <a:buFont typeface="Arial"/>
              <a:buChar char="●"/>
            </a:pPr>
            <a:r>
              <a:rPr lang="en-US" sz="1400" dirty="0">
                <a:solidFill>
                  <a:srgbClr val="000000"/>
                </a:solidFill>
              </a:rPr>
              <a:t>Window size fixed at </a:t>
            </a:r>
            <a:r>
              <a:rPr lang="en-US" sz="1400" b="1" dirty="0">
                <a:solidFill>
                  <a:srgbClr val="000000"/>
                </a:solidFill>
              </a:rPr>
              <a:t>256 samples</a:t>
            </a:r>
            <a:r>
              <a:rPr lang="en-US" sz="1400" dirty="0">
                <a:solidFill>
                  <a:srgbClr val="000000"/>
                </a:solidFill>
              </a:rPr>
              <a:t> and </a:t>
            </a:r>
            <a:r>
              <a:rPr lang="en-US" sz="1400" b="1" dirty="0">
                <a:solidFill>
                  <a:srgbClr val="000000"/>
                </a:solidFill>
              </a:rPr>
              <a:t>50% overlap</a:t>
            </a:r>
            <a:r>
              <a:rPr lang="en-US" sz="1400" dirty="0">
                <a:solidFill>
                  <a:srgbClr val="000000"/>
                </a:solidFill>
              </a:rPr>
              <a:t>, based on the original paper’s best results (97.9% accuracy).</a:t>
            </a:r>
          </a:p>
          <a:p>
            <a:pPr marL="457200" lvl="0" indent="-311161" algn="l" rtl="0">
              <a:lnSpc>
                <a:spcPct val="115000"/>
              </a:lnSpc>
              <a:spcBef>
                <a:spcPts val="0"/>
              </a:spcBef>
              <a:spcAft>
                <a:spcPts val="0"/>
              </a:spcAft>
              <a:buClr>
                <a:srgbClr val="000000"/>
              </a:buClr>
              <a:buSzPct val="100000"/>
              <a:buFont typeface="Arial"/>
              <a:buChar char="●"/>
            </a:pPr>
            <a:r>
              <a:rPr lang="en-US" sz="1400" dirty="0">
                <a:solidFill>
                  <a:srgbClr val="000000"/>
                </a:solidFill>
              </a:rPr>
              <a:t>Two preprocessing settings:</a:t>
            </a:r>
          </a:p>
          <a:p>
            <a:pPr lvl="1" indent="-311161">
              <a:lnSpc>
                <a:spcPct val="115000"/>
              </a:lnSpc>
              <a:spcBef>
                <a:spcPts val="0"/>
              </a:spcBef>
              <a:buClr>
                <a:srgbClr val="000000"/>
              </a:buClr>
              <a:buSzPct val="100000"/>
              <a:buFont typeface="Arial"/>
              <a:buChar char="●"/>
            </a:pPr>
            <a:r>
              <a:rPr lang="en-US" sz="1400" dirty="0">
                <a:solidFill>
                  <a:srgbClr val="000000"/>
                </a:solidFill>
              </a:rPr>
              <a:t>Raw EEG signals</a:t>
            </a:r>
            <a:endParaRPr lang="en-IN" sz="1400" dirty="0">
              <a:solidFill>
                <a:srgbClr val="000000"/>
              </a:solidFill>
            </a:endParaRPr>
          </a:p>
          <a:p>
            <a:pPr marL="914400" lvl="1" indent="-311161" algn="l" rtl="0">
              <a:lnSpc>
                <a:spcPct val="115000"/>
              </a:lnSpc>
              <a:spcBef>
                <a:spcPts val="0"/>
              </a:spcBef>
              <a:spcAft>
                <a:spcPts val="0"/>
              </a:spcAft>
              <a:buClr>
                <a:srgbClr val="000000"/>
              </a:buClr>
              <a:buSzPct val="100000"/>
              <a:buFont typeface="Arial"/>
              <a:buChar char="●"/>
            </a:pPr>
            <a:r>
              <a:rPr lang="en-US" sz="1400" dirty="0">
                <a:solidFill>
                  <a:srgbClr val="000000"/>
                </a:solidFill>
              </a:rPr>
              <a:t>EEG signals denoised with RPCA.</a:t>
            </a:r>
          </a:p>
          <a:p>
            <a:pPr indent="-311161">
              <a:lnSpc>
                <a:spcPct val="120000"/>
              </a:lnSpc>
              <a:spcBef>
                <a:spcPts val="0"/>
              </a:spcBef>
              <a:buClr>
                <a:srgbClr val="000000"/>
              </a:buClr>
              <a:buSzPct val="100000"/>
              <a:buFont typeface="Arial"/>
              <a:buChar char="●"/>
            </a:pPr>
            <a:r>
              <a:rPr lang="en-US" sz="1400" dirty="0">
                <a:solidFill>
                  <a:srgbClr val="000000"/>
                </a:solidFill>
              </a:rPr>
              <a:t>Dimensionality reduction:</a:t>
            </a:r>
          </a:p>
          <a:p>
            <a:pPr marL="914400" lvl="1" indent="-311161" algn="l" rtl="0">
              <a:lnSpc>
                <a:spcPct val="120000"/>
              </a:lnSpc>
              <a:spcBef>
                <a:spcPts val="0"/>
              </a:spcBef>
              <a:spcAft>
                <a:spcPts val="0"/>
              </a:spcAft>
              <a:buClr>
                <a:srgbClr val="000000"/>
              </a:buClr>
              <a:buSzPct val="100000"/>
              <a:buFont typeface="Arial"/>
              <a:buChar char="●"/>
            </a:pPr>
            <a:r>
              <a:rPr lang="en-US" sz="1400" b="1" dirty="0">
                <a:solidFill>
                  <a:srgbClr val="000000"/>
                </a:solidFill>
              </a:rPr>
              <a:t>With PCA</a:t>
            </a:r>
            <a:r>
              <a:rPr lang="en-US" sz="1400" dirty="0">
                <a:solidFill>
                  <a:srgbClr val="000000"/>
                </a:solidFill>
              </a:rPr>
              <a:t> (50 components)</a:t>
            </a:r>
          </a:p>
          <a:p>
            <a:pPr marL="914400" lvl="1" indent="-311161" algn="l" rtl="0">
              <a:lnSpc>
                <a:spcPct val="120000"/>
              </a:lnSpc>
              <a:spcBef>
                <a:spcPts val="0"/>
              </a:spcBef>
              <a:spcAft>
                <a:spcPts val="0"/>
              </a:spcAft>
              <a:buClr>
                <a:srgbClr val="000000"/>
              </a:buClr>
              <a:buSzPct val="100000"/>
              <a:buFont typeface="Arial"/>
              <a:buChar char="●"/>
            </a:pPr>
            <a:r>
              <a:rPr lang="en-US" sz="1400" b="1" dirty="0">
                <a:solidFill>
                  <a:srgbClr val="000000"/>
                </a:solidFill>
              </a:rPr>
              <a:t>Without PCA</a:t>
            </a:r>
            <a:r>
              <a:rPr lang="en-US" sz="1400" dirty="0">
                <a:solidFill>
                  <a:srgbClr val="000000"/>
                </a:solidFill>
              </a:rPr>
              <a:t> (direct signals).</a:t>
            </a:r>
          </a:p>
          <a:p>
            <a:pPr marL="0" lvl="0" indent="0" algn="l" rtl="0">
              <a:lnSpc>
                <a:spcPct val="115000"/>
              </a:lnSpc>
              <a:spcBef>
                <a:spcPts val="0"/>
              </a:spcBef>
              <a:spcAft>
                <a:spcPts val="0"/>
              </a:spcAft>
              <a:buNone/>
            </a:pPr>
            <a:r>
              <a:rPr lang="en-US" sz="1400" b="1" dirty="0">
                <a:solidFill>
                  <a:srgbClr val="000000"/>
                </a:solidFill>
              </a:rPr>
              <a:t>Training Configuration</a:t>
            </a:r>
            <a:r>
              <a:rPr lang="en-US" sz="1400" dirty="0">
                <a:solidFill>
                  <a:srgbClr val="000000"/>
                </a:solidFill>
              </a:rPr>
              <a:t>:</a:t>
            </a:r>
            <a:endParaRPr sz="1400" dirty="0">
              <a:solidFill>
                <a:srgbClr val="000000"/>
              </a:solidFill>
            </a:endParaRPr>
          </a:p>
          <a:p>
            <a:pPr marL="457200" lvl="0" indent="-311161" algn="l" rtl="0">
              <a:lnSpc>
                <a:spcPct val="115000"/>
              </a:lnSpc>
              <a:spcBef>
                <a:spcPts val="0"/>
              </a:spcBef>
              <a:spcAft>
                <a:spcPts val="0"/>
              </a:spcAft>
              <a:buClr>
                <a:srgbClr val="000000"/>
              </a:buClr>
              <a:buSzPct val="100000"/>
              <a:buFont typeface="Arial"/>
              <a:buChar char="●"/>
            </a:pPr>
            <a:r>
              <a:rPr lang="en-US" sz="1400" dirty="0">
                <a:solidFill>
                  <a:srgbClr val="000000"/>
                </a:solidFill>
              </a:rPr>
              <a:t>Optimizer: </a:t>
            </a:r>
            <a:r>
              <a:rPr lang="en-US" sz="1400" b="1" dirty="0">
                <a:solidFill>
                  <a:srgbClr val="000000"/>
                </a:solidFill>
              </a:rPr>
              <a:t>Adam</a:t>
            </a:r>
            <a:r>
              <a:rPr lang="en-US" sz="1400" dirty="0">
                <a:solidFill>
                  <a:srgbClr val="000000"/>
                </a:solidFill>
              </a:rPr>
              <a:t> (learning rate = 0.001)</a:t>
            </a:r>
            <a:endParaRPr sz="1400" dirty="0">
              <a:solidFill>
                <a:srgbClr val="000000"/>
              </a:solidFill>
            </a:endParaRPr>
          </a:p>
          <a:p>
            <a:pPr marL="457200" lvl="0" indent="-311161" algn="l" rtl="0">
              <a:lnSpc>
                <a:spcPct val="115000"/>
              </a:lnSpc>
              <a:spcBef>
                <a:spcPts val="0"/>
              </a:spcBef>
              <a:spcAft>
                <a:spcPts val="0"/>
              </a:spcAft>
              <a:buClr>
                <a:srgbClr val="000000"/>
              </a:buClr>
              <a:buSzPct val="100000"/>
              <a:buFont typeface="Arial"/>
              <a:buChar char="●"/>
            </a:pPr>
            <a:r>
              <a:rPr lang="en-US" sz="1400" dirty="0">
                <a:solidFill>
                  <a:srgbClr val="000000"/>
                </a:solidFill>
              </a:rPr>
              <a:t>Batch size: </a:t>
            </a:r>
            <a:r>
              <a:rPr lang="en-US" sz="1400" b="1" dirty="0">
                <a:solidFill>
                  <a:srgbClr val="000000"/>
                </a:solidFill>
              </a:rPr>
              <a:t>32</a:t>
            </a:r>
            <a:r>
              <a:rPr lang="en-US" sz="1400" dirty="0">
                <a:solidFill>
                  <a:srgbClr val="000000"/>
                </a:solidFill>
              </a:rPr>
              <a:t>, Epochs: </a:t>
            </a:r>
            <a:r>
              <a:rPr lang="en-US" sz="1400" b="1" dirty="0">
                <a:solidFill>
                  <a:srgbClr val="000000"/>
                </a:solidFill>
              </a:rPr>
              <a:t>20</a:t>
            </a:r>
            <a:endParaRPr sz="1400" b="1" dirty="0">
              <a:solidFill>
                <a:srgbClr val="000000"/>
              </a:solidFill>
            </a:endParaRPr>
          </a:p>
          <a:p>
            <a:pPr marL="457200" lvl="0" indent="-311161" algn="l" rtl="0">
              <a:lnSpc>
                <a:spcPct val="115000"/>
              </a:lnSpc>
              <a:spcBef>
                <a:spcPts val="0"/>
              </a:spcBef>
              <a:spcAft>
                <a:spcPts val="0"/>
              </a:spcAft>
              <a:buClr>
                <a:srgbClr val="000000"/>
              </a:buClr>
              <a:buSzPct val="100000"/>
              <a:buFont typeface="Arial"/>
              <a:buChar char="●"/>
            </a:pPr>
            <a:r>
              <a:rPr lang="en-US" sz="1400" dirty="0">
                <a:solidFill>
                  <a:srgbClr val="000000"/>
                </a:solidFill>
              </a:rPr>
              <a:t>Dropout: </a:t>
            </a:r>
            <a:r>
              <a:rPr lang="en-US" sz="1400" b="1" dirty="0">
                <a:solidFill>
                  <a:srgbClr val="000000"/>
                </a:solidFill>
              </a:rPr>
              <a:t>0.2</a:t>
            </a:r>
            <a:r>
              <a:rPr lang="en-US" sz="1400" dirty="0">
                <a:solidFill>
                  <a:srgbClr val="000000"/>
                </a:solidFill>
              </a:rPr>
              <a:t> (Approach 1), </a:t>
            </a:r>
            <a:r>
              <a:rPr lang="en-US" sz="1400" b="1" dirty="0">
                <a:solidFill>
                  <a:srgbClr val="000000"/>
                </a:solidFill>
              </a:rPr>
              <a:t>0.5</a:t>
            </a:r>
            <a:r>
              <a:rPr lang="en-US" sz="1400" dirty="0">
                <a:solidFill>
                  <a:srgbClr val="000000"/>
                </a:solidFill>
              </a:rPr>
              <a:t> (Approach 2)</a:t>
            </a:r>
            <a:endParaRPr sz="1400" dirty="0">
              <a:solidFill>
                <a:srgbClr val="000000"/>
              </a:solidFill>
            </a:endParaRPr>
          </a:p>
          <a:p>
            <a:pPr marL="457200" lvl="0" indent="-311161" algn="l" rtl="0">
              <a:lnSpc>
                <a:spcPct val="115000"/>
              </a:lnSpc>
              <a:spcBef>
                <a:spcPts val="0"/>
              </a:spcBef>
              <a:spcAft>
                <a:spcPts val="0"/>
              </a:spcAft>
              <a:buClr>
                <a:srgbClr val="000000"/>
              </a:buClr>
              <a:buSzPct val="100000"/>
              <a:buFont typeface="Arial"/>
              <a:buChar char="●"/>
            </a:pPr>
            <a:r>
              <a:rPr lang="en-US" sz="1400" dirty="0">
                <a:solidFill>
                  <a:srgbClr val="000000"/>
                </a:solidFill>
              </a:rPr>
              <a:t>Loss function: </a:t>
            </a:r>
            <a:r>
              <a:rPr lang="en-US" sz="1400" b="1" dirty="0">
                <a:solidFill>
                  <a:srgbClr val="000000"/>
                </a:solidFill>
              </a:rPr>
              <a:t>Categorical cross-entropy</a:t>
            </a:r>
            <a:endParaRPr sz="1400" b="1" dirty="0">
              <a:solidFill>
                <a:srgbClr val="000000"/>
              </a:solidFill>
            </a:endParaRPr>
          </a:p>
          <a:p>
            <a:pPr marL="457200" lvl="0" indent="-311161" algn="l" rtl="0">
              <a:lnSpc>
                <a:spcPct val="115000"/>
              </a:lnSpc>
              <a:spcBef>
                <a:spcPts val="0"/>
              </a:spcBef>
              <a:spcAft>
                <a:spcPts val="0"/>
              </a:spcAft>
              <a:buClr>
                <a:srgbClr val="000000"/>
              </a:buClr>
              <a:buSzPct val="100000"/>
              <a:buFont typeface="Arial"/>
              <a:buChar char="●"/>
            </a:pPr>
            <a:r>
              <a:rPr lang="en-US" sz="1400" b="1" dirty="0">
                <a:solidFill>
                  <a:srgbClr val="000000"/>
                </a:solidFill>
              </a:rPr>
              <a:t>Early stopping</a:t>
            </a:r>
            <a:r>
              <a:rPr lang="en-US" sz="1400" dirty="0">
                <a:solidFill>
                  <a:srgbClr val="000000"/>
                </a:solidFill>
              </a:rPr>
              <a:t> based on validation accuracy.</a:t>
            </a:r>
            <a:endParaRPr sz="1400" dirty="0">
              <a:solidFill>
                <a:srgbClr val="000000"/>
              </a:solidFill>
            </a:endParaRPr>
          </a:p>
          <a:p>
            <a:pPr marL="0" lvl="0" indent="0" algn="l" rtl="0">
              <a:lnSpc>
                <a:spcPct val="115000"/>
              </a:lnSpc>
              <a:spcBef>
                <a:spcPts val="0"/>
              </a:spcBef>
              <a:spcAft>
                <a:spcPts val="0"/>
              </a:spcAft>
              <a:buNone/>
            </a:pPr>
            <a:r>
              <a:rPr lang="en-US" sz="1400" b="1" dirty="0">
                <a:solidFill>
                  <a:srgbClr val="000000"/>
                </a:solidFill>
              </a:rPr>
              <a:t>Evaluation Metrics:</a:t>
            </a:r>
            <a:endParaRPr sz="1400" b="1" dirty="0">
              <a:solidFill>
                <a:srgbClr val="000000"/>
              </a:solidFill>
            </a:endParaRPr>
          </a:p>
          <a:p>
            <a:pPr marL="0" lvl="0" indent="0" algn="l" rtl="0">
              <a:lnSpc>
                <a:spcPct val="115000"/>
              </a:lnSpc>
              <a:spcBef>
                <a:spcPts val="0"/>
              </a:spcBef>
              <a:spcAft>
                <a:spcPts val="0"/>
              </a:spcAft>
              <a:buNone/>
            </a:pPr>
            <a:r>
              <a:rPr lang="en-US" sz="1400" dirty="0">
                <a:solidFill>
                  <a:srgbClr val="000000"/>
                </a:solidFill>
              </a:rPr>
              <a:t>Model performance was primarily assessed using classification accuracy, which measures the percentage of correctly classified EEG windows. Additionally, confusion matrices were generated to visualize the distribution of predictions between the Healthy and Alzheimer’s classes, providing deeper insight into model behavior.</a:t>
            </a:r>
            <a:endParaRPr sz="1400" dirty="0">
              <a:solidFill>
                <a:srgbClr val="000000"/>
              </a:solidFill>
            </a:endParaRPr>
          </a:p>
          <a:p>
            <a:pPr marL="457200" lvl="0" indent="0" algn="l" rtl="0">
              <a:spcBef>
                <a:spcPts val="1000"/>
              </a:spcBef>
              <a:spcAft>
                <a:spcPts val="1600"/>
              </a:spcAft>
              <a:buNone/>
            </a:pPr>
            <a:endParaRPr sz="1400" dirty="0"/>
          </a:p>
        </p:txBody>
      </p:sp>
      <p:sp>
        <p:nvSpPr>
          <p:cNvPr id="232" name="Google Shape;232;g356b12e0378_2_18"/>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rm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pic>
        <p:nvPicPr>
          <p:cNvPr id="32" name="Google Shape;308;p2">
            <a:extLst>
              <a:ext uri="{FF2B5EF4-FFF2-40B4-BE49-F238E27FC236}">
                <a16:creationId xmlns:a16="http://schemas.microsoft.com/office/drawing/2014/main" id="{9082D611-763B-64D8-6BE4-AE0A672B5DFA}"/>
              </a:ext>
            </a:extLst>
          </p:cNvPr>
          <p:cNvPicPr preferRelativeResize="0">
            <a:picLocks/>
          </p:cNvPicPr>
          <p:nvPr/>
        </p:nvPicPr>
        <p:blipFill rotWithShape="1">
          <a:blip r:embed="rId5">
            <a:alphaModFix/>
          </a:blip>
          <a:srcRect/>
          <a:stretch/>
        </p:blipFill>
        <p:spPr>
          <a:xfrm>
            <a:off x="9170089" y="2117109"/>
            <a:ext cx="3021911" cy="3131382"/>
          </a:xfrm>
          <a:prstGeom prst="rect">
            <a:avLst/>
          </a:prstGeom>
          <a:noFill/>
          <a:ln>
            <a:noFill/>
          </a:ln>
        </p:spPr>
      </p:pic>
      <p:pic>
        <p:nvPicPr>
          <p:cNvPr id="63" name="Audio 62">
            <a:extLst>
              <a:ext uri="{FF2B5EF4-FFF2-40B4-BE49-F238E27FC236}">
                <a16:creationId xmlns:a16="http://schemas.microsoft.com/office/drawing/2014/main" id="{7C8C07C1-DAA8-5617-E95E-FEB04753F810}"/>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163300" y="58293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6567"/>
    </mc:Choice>
    <mc:Fallback xmlns="">
      <p:transition spd="slow" advTm="3656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3"/>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g340f8e6e69a_0_166"/>
          <p:cNvSpPr txBox="1">
            <a:spLocks noGrp="1"/>
          </p:cNvSpPr>
          <p:nvPr>
            <p:ph type="title"/>
          </p:nvPr>
        </p:nvSpPr>
        <p:spPr>
          <a:xfrm>
            <a:off x="457550" y="274275"/>
            <a:ext cx="10444800" cy="763500"/>
          </a:xfrm>
          <a:prstGeom prst="rect">
            <a:avLst/>
          </a:prstGeom>
        </p:spPr>
        <p:txBody>
          <a:bodyPr spcFirstLastPara="1" wrap="square" lIns="121900" tIns="121900" rIns="121900" bIns="121900" anchor="t" anchorCtr="0">
            <a:normAutofit fontScale="90000"/>
          </a:bodyPr>
          <a:lstStyle/>
          <a:p>
            <a:pPr marL="0" lvl="0" indent="0" algn="l" rtl="0">
              <a:spcBef>
                <a:spcPts val="0"/>
              </a:spcBef>
              <a:spcAft>
                <a:spcPts val="0"/>
              </a:spcAft>
              <a:buNone/>
            </a:pPr>
            <a:r>
              <a:rPr lang="en-US" dirty="0"/>
              <a:t>Results - Baseline</a:t>
            </a:r>
            <a:endParaRPr dirty="0"/>
          </a:p>
        </p:txBody>
      </p:sp>
      <p:sp>
        <p:nvSpPr>
          <p:cNvPr id="238" name="Google Shape;238;g340f8e6e69a_0_166"/>
          <p:cNvSpPr txBox="1">
            <a:spLocks noGrp="1"/>
          </p:cNvSpPr>
          <p:nvPr>
            <p:ph type="body" idx="1"/>
          </p:nvPr>
        </p:nvSpPr>
        <p:spPr>
          <a:xfrm>
            <a:off x="838200" y="1536300"/>
            <a:ext cx="10515600" cy="4715700"/>
          </a:xfrm>
          <a:prstGeom prst="rect">
            <a:avLst/>
          </a:prstGeom>
        </p:spPr>
        <p:txBody>
          <a:bodyPr spcFirstLastPara="1" wrap="square" lIns="91425" tIns="45700" rIns="91425" bIns="45700" anchor="t" anchorCtr="0">
            <a:normAutofit fontScale="25000" lnSpcReduction="20000"/>
          </a:bodyPr>
          <a:lstStyle/>
          <a:p>
            <a:pPr marL="0" lvl="0" indent="0" algn="l" rtl="0">
              <a:lnSpc>
                <a:spcPct val="115000"/>
              </a:lnSpc>
              <a:spcBef>
                <a:spcPts val="0"/>
              </a:spcBef>
              <a:spcAft>
                <a:spcPts val="0"/>
              </a:spcAft>
              <a:buNone/>
            </a:pPr>
            <a:r>
              <a:rPr lang="en-US" sz="5147" b="1" dirty="0">
                <a:solidFill>
                  <a:srgbClr val="000000"/>
                </a:solidFill>
                <a:latin typeface="Arial"/>
                <a:ea typeface="Arial"/>
                <a:cs typeface="Arial"/>
                <a:sym typeface="Arial"/>
              </a:rPr>
              <a:t>Comparison with Paper Results:</a:t>
            </a:r>
            <a:endParaRPr sz="5147" b="1" dirty="0">
              <a:solidFill>
                <a:srgbClr val="000000"/>
              </a:solidFill>
              <a:latin typeface="Arial"/>
              <a:ea typeface="Arial"/>
              <a:cs typeface="Arial"/>
              <a:sym typeface="Arial"/>
            </a:endParaRPr>
          </a:p>
          <a:p>
            <a:pPr marL="457200" lvl="0" indent="-310311" algn="l" rtl="0">
              <a:lnSpc>
                <a:spcPct val="115000"/>
              </a:lnSpc>
              <a:spcBef>
                <a:spcPts val="0"/>
              </a:spcBef>
              <a:spcAft>
                <a:spcPts val="0"/>
              </a:spcAft>
              <a:buClr>
                <a:srgbClr val="000000"/>
              </a:buClr>
              <a:buSzPct val="100000"/>
              <a:buFont typeface="Arial"/>
              <a:buChar char="●"/>
            </a:pPr>
            <a:r>
              <a:rPr lang="en-US" sz="5147" b="1" dirty="0">
                <a:solidFill>
                  <a:srgbClr val="000000"/>
                </a:solidFill>
                <a:latin typeface="Arial"/>
                <a:ea typeface="Arial"/>
                <a:cs typeface="Arial"/>
                <a:sym typeface="Arial"/>
              </a:rPr>
              <a:t>Original Study</a:t>
            </a:r>
            <a:r>
              <a:rPr lang="en-US" sz="5147" dirty="0">
                <a:solidFill>
                  <a:srgbClr val="000000"/>
                </a:solidFill>
                <a:latin typeface="Arial"/>
                <a:ea typeface="Arial"/>
                <a:cs typeface="Arial"/>
                <a:sym typeface="Arial"/>
              </a:rPr>
              <a:t> (Paper):</a:t>
            </a:r>
            <a:endParaRPr sz="5147" dirty="0">
              <a:solidFill>
                <a:srgbClr val="000000"/>
              </a:solidFill>
              <a:latin typeface="Arial"/>
              <a:ea typeface="Arial"/>
              <a:cs typeface="Arial"/>
              <a:sym typeface="Arial"/>
            </a:endParaRPr>
          </a:p>
          <a:p>
            <a:pPr marL="914400" lvl="1" indent="-310311" algn="l" rtl="0">
              <a:lnSpc>
                <a:spcPct val="115000"/>
              </a:lnSpc>
              <a:spcBef>
                <a:spcPts val="0"/>
              </a:spcBef>
              <a:spcAft>
                <a:spcPts val="0"/>
              </a:spcAft>
              <a:buClr>
                <a:srgbClr val="000000"/>
              </a:buClr>
              <a:buSzPct val="100000"/>
              <a:buFont typeface="Arial"/>
              <a:buChar char="○"/>
            </a:pPr>
            <a:r>
              <a:rPr lang="en-US" sz="5147" dirty="0">
                <a:solidFill>
                  <a:srgbClr val="000000"/>
                </a:solidFill>
                <a:latin typeface="Arial"/>
                <a:ea typeface="Arial"/>
                <a:cs typeface="Arial"/>
                <a:sym typeface="Arial"/>
              </a:rPr>
              <a:t>Best Test Accuracy (without PCA): </a:t>
            </a:r>
            <a:r>
              <a:rPr lang="en-US" sz="5147" b="1" dirty="0">
                <a:solidFill>
                  <a:srgbClr val="000000"/>
                </a:solidFill>
                <a:latin typeface="Arial"/>
                <a:ea typeface="Arial"/>
                <a:cs typeface="Arial"/>
                <a:sym typeface="Arial"/>
              </a:rPr>
              <a:t>79.3%</a:t>
            </a:r>
            <a:r>
              <a:rPr lang="en-US" sz="5147" dirty="0">
                <a:solidFill>
                  <a:srgbClr val="000000"/>
                </a:solidFill>
                <a:latin typeface="Arial"/>
                <a:ea typeface="Arial"/>
                <a:cs typeface="Arial"/>
                <a:sym typeface="Arial"/>
              </a:rPr>
              <a:t> (Window=128, Overlap=50%)</a:t>
            </a:r>
            <a:endParaRPr sz="5147" dirty="0">
              <a:solidFill>
                <a:srgbClr val="000000"/>
              </a:solidFill>
              <a:latin typeface="Arial"/>
              <a:ea typeface="Arial"/>
              <a:cs typeface="Arial"/>
              <a:sym typeface="Arial"/>
            </a:endParaRPr>
          </a:p>
          <a:p>
            <a:pPr marL="914400" lvl="1" indent="-310311" algn="l" rtl="0">
              <a:lnSpc>
                <a:spcPct val="115000"/>
              </a:lnSpc>
              <a:spcBef>
                <a:spcPts val="0"/>
              </a:spcBef>
              <a:spcAft>
                <a:spcPts val="0"/>
              </a:spcAft>
              <a:buClr>
                <a:srgbClr val="000000"/>
              </a:buClr>
              <a:buSzPct val="100000"/>
              <a:buFont typeface="Arial"/>
              <a:buChar char="○"/>
            </a:pPr>
            <a:r>
              <a:rPr lang="en-US" sz="5147" dirty="0">
                <a:solidFill>
                  <a:srgbClr val="000000"/>
                </a:solidFill>
                <a:latin typeface="Arial"/>
                <a:ea typeface="Arial"/>
                <a:cs typeface="Arial"/>
                <a:sym typeface="Arial"/>
              </a:rPr>
              <a:t>Best Test Accuracy (with PCA): </a:t>
            </a:r>
            <a:r>
              <a:rPr lang="en-US" sz="5147" b="1" dirty="0">
                <a:solidFill>
                  <a:srgbClr val="000000"/>
                </a:solidFill>
                <a:latin typeface="Arial"/>
                <a:ea typeface="Arial"/>
                <a:cs typeface="Arial"/>
                <a:sym typeface="Arial"/>
              </a:rPr>
              <a:t>97.9%</a:t>
            </a:r>
            <a:r>
              <a:rPr lang="en-US" sz="5147" dirty="0">
                <a:solidFill>
                  <a:srgbClr val="000000"/>
                </a:solidFill>
                <a:latin typeface="Arial"/>
                <a:ea typeface="Arial"/>
                <a:cs typeface="Arial"/>
                <a:sym typeface="Arial"/>
              </a:rPr>
              <a:t> (Window=256, Overlap=50%)</a:t>
            </a:r>
            <a:endParaRPr sz="5147" dirty="0">
              <a:solidFill>
                <a:srgbClr val="000000"/>
              </a:solidFill>
              <a:latin typeface="Arial"/>
              <a:ea typeface="Arial"/>
              <a:cs typeface="Arial"/>
              <a:sym typeface="Arial"/>
            </a:endParaRPr>
          </a:p>
          <a:p>
            <a:pPr marL="457200" lvl="0" indent="-310311" algn="l" rtl="0">
              <a:lnSpc>
                <a:spcPct val="115000"/>
              </a:lnSpc>
              <a:spcBef>
                <a:spcPts val="0"/>
              </a:spcBef>
              <a:spcAft>
                <a:spcPts val="0"/>
              </a:spcAft>
              <a:buClr>
                <a:srgbClr val="000000"/>
              </a:buClr>
              <a:buSzPct val="100000"/>
              <a:buFont typeface="Arial"/>
              <a:buChar char="●"/>
            </a:pPr>
            <a:r>
              <a:rPr lang="en-US" sz="5147" b="1" dirty="0">
                <a:solidFill>
                  <a:srgbClr val="000000"/>
                </a:solidFill>
                <a:latin typeface="Arial"/>
                <a:ea typeface="Arial"/>
                <a:cs typeface="Arial"/>
                <a:sym typeface="Arial"/>
              </a:rPr>
              <a:t>Our Reimplementation</a:t>
            </a:r>
            <a:r>
              <a:rPr lang="en-US" sz="5147" dirty="0">
                <a:solidFill>
                  <a:srgbClr val="000000"/>
                </a:solidFill>
                <a:latin typeface="Arial"/>
                <a:ea typeface="Arial"/>
                <a:cs typeface="Arial"/>
                <a:sym typeface="Arial"/>
              </a:rPr>
              <a:t>:</a:t>
            </a:r>
            <a:endParaRPr sz="5147" dirty="0">
              <a:solidFill>
                <a:srgbClr val="000000"/>
              </a:solidFill>
              <a:latin typeface="Arial"/>
              <a:ea typeface="Arial"/>
              <a:cs typeface="Arial"/>
              <a:sym typeface="Arial"/>
            </a:endParaRPr>
          </a:p>
          <a:p>
            <a:pPr marL="914400" lvl="1" indent="-310311" algn="l" rtl="0">
              <a:lnSpc>
                <a:spcPct val="115000"/>
              </a:lnSpc>
              <a:spcBef>
                <a:spcPts val="0"/>
              </a:spcBef>
              <a:spcAft>
                <a:spcPts val="0"/>
              </a:spcAft>
              <a:buClr>
                <a:srgbClr val="000000"/>
              </a:buClr>
              <a:buSzPct val="100000"/>
              <a:buFont typeface="Arial"/>
              <a:buChar char="○"/>
            </a:pPr>
            <a:r>
              <a:rPr lang="en-US" sz="5147" dirty="0">
                <a:solidFill>
                  <a:srgbClr val="000000"/>
                </a:solidFill>
                <a:latin typeface="Arial"/>
                <a:ea typeface="Arial"/>
                <a:cs typeface="Arial"/>
                <a:sym typeface="Arial"/>
              </a:rPr>
              <a:t>Best Test Accuracy (without PCA): </a:t>
            </a:r>
            <a:r>
              <a:rPr lang="en-US" sz="5147" b="1" dirty="0">
                <a:solidFill>
                  <a:srgbClr val="000000"/>
                </a:solidFill>
                <a:latin typeface="Arial"/>
                <a:ea typeface="Arial"/>
                <a:cs typeface="Arial"/>
                <a:sym typeface="Arial"/>
              </a:rPr>
              <a:t>89.4%</a:t>
            </a:r>
            <a:r>
              <a:rPr lang="en-US" sz="5147" dirty="0">
                <a:solidFill>
                  <a:srgbClr val="000000"/>
                </a:solidFill>
                <a:latin typeface="Arial"/>
                <a:ea typeface="Arial"/>
                <a:cs typeface="Arial"/>
                <a:sym typeface="Arial"/>
              </a:rPr>
              <a:t> (Window=128, Overlap=50%)</a:t>
            </a:r>
            <a:endParaRPr sz="5147" dirty="0">
              <a:solidFill>
                <a:srgbClr val="000000"/>
              </a:solidFill>
              <a:latin typeface="Arial"/>
              <a:ea typeface="Arial"/>
              <a:cs typeface="Arial"/>
              <a:sym typeface="Arial"/>
            </a:endParaRPr>
          </a:p>
          <a:p>
            <a:pPr marL="914400" lvl="1" indent="-310311" algn="l" rtl="0">
              <a:lnSpc>
                <a:spcPct val="115000"/>
              </a:lnSpc>
              <a:spcBef>
                <a:spcPts val="0"/>
              </a:spcBef>
              <a:spcAft>
                <a:spcPts val="0"/>
              </a:spcAft>
              <a:buClr>
                <a:srgbClr val="000000"/>
              </a:buClr>
              <a:buSzPct val="100000"/>
              <a:buFont typeface="Arial"/>
              <a:buChar char="○"/>
            </a:pPr>
            <a:r>
              <a:rPr lang="en-US" sz="5147" dirty="0">
                <a:solidFill>
                  <a:srgbClr val="000000"/>
                </a:solidFill>
                <a:latin typeface="Arial"/>
                <a:ea typeface="Arial"/>
                <a:cs typeface="Arial"/>
                <a:sym typeface="Arial"/>
              </a:rPr>
              <a:t>Best Test Accuracy (with PCA): </a:t>
            </a:r>
            <a:r>
              <a:rPr lang="en-US" sz="5147" b="1" dirty="0">
                <a:solidFill>
                  <a:srgbClr val="000000"/>
                </a:solidFill>
                <a:latin typeface="Arial"/>
                <a:ea typeface="Arial"/>
                <a:cs typeface="Arial"/>
                <a:sym typeface="Arial"/>
              </a:rPr>
              <a:t>93.5%</a:t>
            </a:r>
            <a:r>
              <a:rPr lang="en-US" sz="5147" dirty="0">
                <a:solidFill>
                  <a:srgbClr val="000000"/>
                </a:solidFill>
                <a:latin typeface="Arial"/>
                <a:ea typeface="Arial"/>
                <a:cs typeface="Arial"/>
                <a:sym typeface="Arial"/>
              </a:rPr>
              <a:t> (Window=384, Overlap=50%)</a:t>
            </a:r>
            <a:endParaRPr sz="5147" dirty="0">
              <a:solidFill>
                <a:srgbClr val="000000"/>
              </a:solidFill>
              <a:latin typeface="Arial"/>
              <a:ea typeface="Arial"/>
              <a:cs typeface="Arial"/>
              <a:sym typeface="Arial"/>
            </a:endParaRPr>
          </a:p>
          <a:p>
            <a:pPr marL="0" lvl="0" indent="0" algn="l" rtl="0">
              <a:lnSpc>
                <a:spcPct val="115000"/>
              </a:lnSpc>
              <a:spcBef>
                <a:spcPts val="0"/>
              </a:spcBef>
              <a:spcAft>
                <a:spcPts val="0"/>
              </a:spcAft>
              <a:buNone/>
            </a:pPr>
            <a:endParaRPr sz="5147" b="1" dirty="0">
              <a:solidFill>
                <a:srgbClr val="000000"/>
              </a:solidFill>
              <a:latin typeface="Arial"/>
              <a:ea typeface="Arial"/>
              <a:cs typeface="Arial"/>
              <a:sym typeface="Arial"/>
            </a:endParaRPr>
          </a:p>
          <a:p>
            <a:pPr marL="0" lvl="0" indent="0" algn="l" rtl="0">
              <a:lnSpc>
                <a:spcPct val="115000"/>
              </a:lnSpc>
              <a:spcBef>
                <a:spcPts val="0"/>
              </a:spcBef>
              <a:spcAft>
                <a:spcPts val="0"/>
              </a:spcAft>
              <a:buNone/>
            </a:pPr>
            <a:r>
              <a:rPr lang="en-US" sz="5147" b="1" dirty="0">
                <a:solidFill>
                  <a:srgbClr val="000000"/>
                </a:solidFill>
                <a:latin typeface="Arial"/>
                <a:ea typeface="Arial"/>
                <a:cs typeface="Arial"/>
                <a:sym typeface="Arial"/>
              </a:rPr>
              <a:t>Observations:</a:t>
            </a:r>
            <a:endParaRPr sz="5147" b="1" dirty="0">
              <a:solidFill>
                <a:srgbClr val="000000"/>
              </a:solidFill>
              <a:latin typeface="Arial"/>
              <a:ea typeface="Arial"/>
              <a:cs typeface="Arial"/>
              <a:sym typeface="Arial"/>
            </a:endParaRPr>
          </a:p>
          <a:p>
            <a:pPr marL="457200" lvl="0" indent="-310311" algn="l" rtl="0">
              <a:lnSpc>
                <a:spcPct val="115000"/>
              </a:lnSpc>
              <a:spcBef>
                <a:spcPts val="0"/>
              </a:spcBef>
              <a:spcAft>
                <a:spcPts val="0"/>
              </a:spcAft>
              <a:buClr>
                <a:srgbClr val="000000"/>
              </a:buClr>
              <a:buSzPct val="100000"/>
              <a:buFont typeface="Arial"/>
              <a:buChar char="●"/>
            </a:pPr>
            <a:r>
              <a:rPr lang="en-US" sz="5147" dirty="0">
                <a:solidFill>
                  <a:srgbClr val="000000"/>
                </a:solidFill>
                <a:latin typeface="Arial"/>
                <a:ea typeface="Arial"/>
                <a:cs typeface="Arial"/>
                <a:sym typeface="Arial"/>
              </a:rPr>
              <a:t>Higher accuracy in the no-PCA setting compared to the paper.</a:t>
            </a:r>
            <a:endParaRPr sz="5147" dirty="0">
              <a:solidFill>
                <a:srgbClr val="000000"/>
              </a:solidFill>
              <a:latin typeface="Arial"/>
              <a:ea typeface="Arial"/>
              <a:cs typeface="Arial"/>
              <a:sym typeface="Arial"/>
            </a:endParaRPr>
          </a:p>
          <a:p>
            <a:pPr marL="457200" lvl="0" indent="-310311" algn="l" rtl="0">
              <a:lnSpc>
                <a:spcPct val="115000"/>
              </a:lnSpc>
              <a:spcBef>
                <a:spcPts val="0"/>
              </a:spcBef>
              <a:spcAft>
                <a:spcPts val="0"/>
              </a:spcAft>
              <a:buClr>
                <a:srgbClr val="000000"/>
              </a:buClr>
              <a:buSzPct val="100000"/>
              <a:buFont typeface="Arial"/>
              <a:buChar char="●"/>
            </a:pPr>
            <a:r>
              <a:rPr lang="en-US" sz="5147" dirty="0">
                <a:solidFill>
                  <a:srgbClr val="000000"/>
                </a:solidFill>
                <a:latin typeface="Arial"/>
                <a:ea typeface="Arial"/>
                <a:cs typeface="Arial"/>
                <a:sym typeface="Arial"/>
              </a:rPr>
              <a:t>Slightly lower accuracy in the PCA setting compared to the paper.</a:t>
            </a:r>
            <a:endParaRPr sz="5147" dirty="0">
              <a:solidFill>
                <a:srgbClr val="000000"/>
              </a:solidFill>
              <a:latin typeface="Arial"/>
              <a:ea typeface="Arial"/>
              <a:cs typeface="Arial"/>
              <a:sym typeface="Arial"/>
            </a:endParaRPr>
          </a:p>
          <a:p>
            <a:pPr marL="457200" lvl="0" indent="-310311" algn="l" rtl="0">
              <a:lnSpc>
                <a:spcPct val="115000"/>
              </a:lnSpc>
              <a:spcBef>
                <a:spcPts val="0"/>
              </a:spcBef>
              <a:spcAft>
                <a:spcPts val="0"/>
              </a:spcAft>
              <a:buClr>
                <a:srgbClr val="000000"/>
              </a:buClr>
              <a:buSzPct val="100000"/>
              <a:buFont typeface="Arial"/>
              <a:buChar char="●"/>
            </a:pPr>
            <a:r>
              <a:rPr lang="en-US" sz="5147" dirty="0">
                <a:solidFill>
                  <a:srgbClr val="000000"/>
                </a:solidFill>
                <a:latin typeface="Arial"/>
                <a:ea typeface="Arial"/>
                <a:cs typeface="Arial"/>
                <a:sym typeface="Arial"/>
              </a:rPr>
              <a:t>Best window size shifted from 256 (paper) to 384 (our result) for PCA..</a:t>
            </a:r>
            <a:endParaRPr sz="5147" dirty="0">
              <a:solidFill>
                <a:srgbClr val="000000"/>
              </a:solidFill>
              <a:latin typeface="Arial"/>
              <a:ea typeface="Arial"/>
              <a:cs typeface="Arial"/>
              <a:sym typeface="Arial"/>
            </a:endParaRPr>
          </a:p>
          <a:p>
            <a:pPr marL="0" lvl="0" indent="0" algn="l" rtl="0">
              <a:lnSpc>
                <a:spcPct val="115000"/>
              </a:lnSpc>
              <a:spcBef>
                <a:spcPts val="0"/>
              </a:spcBef>
              <a:spcAft>
                <a:spcPts val="0"/>
              </a:spcAft>
              <a:buNone/>
            </a:pPr>
            <a:endParaRPr sz="5147" b="1" dirty="0">
              <a:solidFill>
                <a:srgbClr val="000000"/>
              </a:solidFill>
              <a:latin typeface="Arial"/>
              <a:ea typeface="Arial"/>
              <a:cs typeface="Arial"/>
              <a:sym typeface="Arial"/>
            </a:endParaRPr>
          </a:p>
          <a:p>
            <a:pPr marL="0" lvl="0" indent="0" algn="l" rtl="0">
              <a:lnSpc>
                <a:spcPct val="115000"/>
              </a:lnSpc>
              <a:spcBef>
                <a:spcPts val="0"/>
              </a:spcBef>
              <a:spcAft>
                <a:spcPts val="0"/>
              </a:spcAft>
              <a:buNone/>
            </a:pPr>
            <a:r>
              <a:rPr lang="en-US" sz="5147" b="1" dirty="0">
                <a:solidFill>
                  <a:srgbClr val="000000"/>
                </a:solidFill>
                <a:latin typeface="Arial"/>
                <a:ea typeface="Arial"/>
                <a:cs typeface="Arial"/>
                <a:sym typeface="Arial"/>
              </a:rPr>
              <a:t>Possible Reasons for Differences:</a:t>
            </a:r>
            <a:endParaRPr sz="5147" b="1" dirty="0">
              <a:solidFill>
                <a:srgbClr val="000000"/>
              </a:solidFill>
              <a:latin typeface="Arial"/>
              <a:ea typeface="Arial"/>
              <a:cs typeface="Arial"/>
              <a:sym typeface="Arial"/>
            </a:endParaRPr>
          </a:p>
          <a:p>
            <a:pPr marL="457200" lvl="0" indent="-310311" algn="l" rtl="0">
              <a:lnSpc>
                <a:spcPct val="115000"/>
              </a:lnSpc>
              <a:spcBef>
                <a:spcPts val="0"/>
              </a:spcBef>
              <a:spcAft>
                <a:spcPts val="0"/>
              </a:spcAft>
              <a:buClr>
                <a:srgbClr val="000000"/>
              </a:buClr>
              <a:buSzPct val="100000"/>
              <a:buFont typeface="Arial"/>
              <a:buChar char="●"/>
            </a:pPr>
            <a:r>
              <a:rPr lang="en-US" sz="5147" dirty="0">
                <a:solidFill>
                  <a:srgbClr val="000000"/>
                </a:solidFill>
                <a:latin typeface="Arial"/>
                <a:ea typeface="Arial"/>
                <a:cs typeface="Arial"/>
                <a:sym typeface="Arial"/>
              </a:rPr>
              <a:t>The original paper did not specify exactly which 5 subjects were used for training/testing splits.</a:t>
            </a:r>
            <a:endParaRPr sz="5147" dirty="0">
              <a:solidFill>
                <a:srgbClr val="000000"/>
              </a:solidFill>
              <a:latin typeface="Arial"/>
              <a:ea typeface="Arial"/>
              <a:cs typeface="Arial"/>
              <a:sym typeface="Arial"/>
            </a:endParaRPr>
          </a:p>
          <a:p>
            <a:pPr marL="457200" lvl="0" indent="-310311" algn="l" rtl="0">
              <a:lnSpc>
                <a:spcPct val="115000"/>
              </a:lnSpc>
              <a:spcBef>
                <a:spcPts val="0"/>
              </a:spcBef>
              <a:spcAft>
                <a:spcPts val="0"/>
              </a:spcAft>
              <a:buClr>
                <a:srgbClr val="000000"/>
              </a:buClr>
              <a:buSzPct val="100000"/>
              <a:buFont typeface="Arial"/>
              <a:buChar char="●"/>
            </a:pPr>
            <a:r>
              <a:rPr lang="en-US" sz="5147" dirty="0">
                <a:solidFill>
                  <a:srgbClr val="000000"/>
                </a:solidFill>
                <a:latin typeface="Arial"/>
                <a:ea typeface="Arial"/>
                <a:cs typeface="Arial"/>
                <a:sym typeface="Arial"/>
              </a:rPr>
              <a:t>Random weight initialization, random data shuffling and random behaviors during training can lead to variations even when using the same model structure.</a:t>
            </a:r>
            <a:endParaRPr sz="5147" dirty="0">
              <a:solidFill>
                <a:srgbClr val="000000"/>
              </a:solidFill>
              <a:latin typeface="Arial"/>
              <a:ea typeface="Arial"/>
              <a:cs typeface="Arial"/>
              <a:sym typeface="Arial"/>
            </a:endParaRPr>
          </a:p>
          <a:p>
            <a:pPr marL="457200" lvl="0" indent="-310311" algn="l" rtl="0">
              <a:lnSpc>
                <a:spcPct val="115000"/>
              </a:lnSpc>
              <a:spcBef>
                <a:spcPts val="0"/>
              </a:spcBef>
              <a:spcAft>
                <a:spcPts val="0"/>
              </a:spcAft>
              <a:buClr>
                <a:srgbClr val="000000"/>
              </a:buClr>
              <a:buSzPct val="100000"/>
              <a:buFont typeface="Arial"/>
              <a:buChar char="●"/>
            </a:pPr>
            <a:r>
              <a:rPr lang="en-US" sz="5147" dirty="0">
                <a:solidFill>
                  <a:srgbClr val="000000"/>
                </a:solidFill>
                <a:latin typeface="Arial"/>
                <a:ea typeface="Arial"/>
                <a:cs typeface="Arial"/>
                <a:sym typeface="Arial"/>
              </a:rPr>
              <a:t>Minor differences in PCA denoising, standardization  or training setup could have influenced the results.</a:t>
            </a:r>
            <a:endParaRPr sz="5147" dirty="0">
              <a:solidFill>
                <a:srgbClr val="000000"/>
              </a:solidFill>
              <a:latin typeface="Arial"/>
              <a:ea typeface="Arial"/>
              <a:cs typeface="Arial"/>
              <a:sym typeface="Arial"/>
            </a:endParaRPr>
          </a:p>
          <a:p>
            <a:pPr marL="0" lvl="0" indent="0" algn="l" rtl="0">
              <a:lnSpc>
                <a:spcPct val="115000"/>
              </a:lnSpc>
              <a:spcBef>
                <a:spcPts val="0"/>
              </a:spcBef>
              <a:spcAft>
                <a:spcPts val="0"/>
              </a:spcAft>
              <a:buNone/>
            </a:pPr>
            <a:endParaRPr sz="5147" b="1" dirty="0">
              <a:solidFill>
                <a:srgbClr val="000000"/>
              </a:solidFill>
              <a:latin typeface="Arial"/>
              <a:ea typeface="Arial"/>
              <a:cs typeface="Arial"/>
              <a:sym typeface="Arial"/>
            </a:endParaRPr>
          </a:p>
          <a:p>
            <a:pPr marL="0" lvl="0" indent="0" algn="l" rtl="0">
              <a:lnSpc>
                <a:spcPct val="115000"/>
              </a:lnSpc>
              <a:spcBef>
                <a:spcPts val="0"/>
              </a:spcBef>
              <a:spcAft>
                <a:spcPts val="0"/>
              </a:spcAft>
              <a:buNone/>
            </a:pPr>
            <a:r>
              <a:rPr lang="en-US" sz="5147" b="1" dirty="0">
                <a:solidFill>
                  <a:srgbClr val="000000"/>
                </a:solidFill>
                <a:latin typeface="Arial"/>
                <a:ea typeface="Arial"/>
                <a:cs typeface="Arial"/>
                <a:sym typeface="Arial"/>
              </a:rPr>
              <a:t>Conclusion:</a:t>
            </a:r>
            <a:endParaRPr sz="5147" b="1" dirty="0">
              <a:solidFill>
                <a:srgbClr val="000000"/>
              </a:solidFill>
              <a:latin typeface="Arial"/>
              <a:ea typeface="Arial"/>
              <a:cs typeface="Arial"/>
              <a:sym typeface="Arial"/>
            </a:endParaRPr>
          </a:p>
          <a:p>
            <a:pPr marL="457200" lvl="0" indent="-310311" algn="l" rtl="0">
              <a:lnSpc>
                <a:spcPct val="115000"/>
              </a:lnSpc>
              <a:spcBef>
                <a:spcPts val="0"/>
              </a:spcBef>
              <a:spcAft>
                <a:spcPts val="0"/>
              </a:spcAft>
              <a:buClr>
                <a:srgbClr val="000000"/>
              </a:buClr>
              <a:buSzPct val="100000"/>
              <a:buFont typeface="Arial"/>
              <a:buChar char="●"/>
            </a:pPr>
            <a:r>
              <a:rPr lang="en-US" sz="5147" dirty="0">
                <a:solidFill>
                  <a:srgbClr val="000000"/>
                </a:solidFill>
                <a:latin typeface="Arial"/>
                <a:ea typeface="Arial"/>
                <a:cs typeface="Arial"/>
                <a:sym typeface="Arial"/>
              </a:rPr>
              <a:t>Baseline implementation was successful.</a:t>
            </a:r>
            <a:endParaRPr sz="5147" dirty="0">
              <a:solidFill>
                <a:srgbClr val="000000"/>
              </a:solidFill>
              <a:latin typeface="Arial"/>
              <a:ea typeface="Arial"/>
              <a:cs typeface="Arial"/>
              <a:sym typeface="Arial"/>
            </a:endParaRPr>
          </a:p>
          <a:p>
            <a:pPr marL="457200" lvl="0" indent="-310311" algn="l" rtl="0">
              <a:lnSpc>
                <a:spcPct val="115000"/>
              </a:lnSpc>
              <a:spcBef>
                <a:spcPts val="0"/>
              </a:spcBef>
              <a:spcAft>
                <a:spcPts val="0"/>
              </a:spcAft>
              <a:buClr>
                <a:srgbClr val="000000"/>
              </a:buClr>
              <a:buSzPct val="100000"/>
              <a:buFont typeface="Arial"/>
              <a:buChar char="●"/>
            </a:pPr>
            <a:r>
              <a:rPr lang="en-US" sz="5147" dirty="0">
                <a:solidFill>
                  <a:srgbClr val="000000"/>
                </a:solidFill>
                <a:latin typeface="Arial"/>
                <a:ea typeface="Arial"/>
                <a:cs typeface="Arial"/>
                <a:sym typeface="Arial"/>
              </a:rPr>
              <a:t>Minor variations in PCA results, but overall strong and consistent model behavior.</a:t>
            </a:r>
            <a:endParaRPr sz="5147" dirty="0">
              <a:solidFill>
                <a:srgbClr val="000000"/>
              </a:solidFill>
              <a:latin typeface="Arial"/>
              <a:ea typeface="Arial"/>
              <a:cs typeface="Arial"/>
              <a:sym typeface="Arial"/>
            </a:endParaRPr>
          </a:p>
          <a:p>
            <a:pPr marL="457200" lvl="0" indent="-310311" algn="l" rtl="0">
              <a:lnSpc>
                <a:spcPct val="115000"/>
              </a:lnSpc>
              <a:spcBef>
                <a:spcPts val="0"/>
              </a:spcBef>
              <a:spcAft>
                <a:spcPts val="0"/>
              </a:spcAft>
              <a:buClr>
                <a:srgbClr val="000000"/>
              </a:buClr>
              <a:buSzPct val="100000"/>
              <a:buFont typeface="Arial"/>
              <a:buChar char="●"/>
            </a:pPr>
            <a:r>
              <a:rPr lang="en-US" sz="5147" dirty="0">
                <a:solidFill>
                  <a:srgbClr val="000000"/>
                </a:solidFill>
                <a:latin typeface="Arial"/>
                <a:ea typeface="Arial"/>
                <a:cs typeface="Arial"/>
                <a:sym typeface="Arial"/>
              </a:rPr>
              <a:t>Even though the best window size shifted to 384, we continued using 256 samples window size in other approaches to align with the original paper's settings for fair comparison</a:t>
            </a:r>
            <a:endParaRPr sz="5147" dirty="0">
              <a:solidFill>
                <a:srgbClr val="000000"/>
              </a:solidFill>
              <a:latin typeface="Arial"/>
              <a:ea typeface="Arial"/>
              <a:cs typeface="Arial"/>
              <a:sym typeface="Arial"/>
            </a:endParaRPr>
          </a:p>
          <a:p>
            <a:pPr marL="457200" lvl="0" indent="0" algn="l" rtl="0">
              <a:lnSpc>
                <a:spcPct val="115000"/>
              </a:lnSpc>
              <a:spcBef>
                <a:spcPts val="0"/>
              </a:spcBef>
              <a:spcAft>
                <a:spcPts val="0"/>
              </a:spcAft>
              <a:buNone/>
            </a:pPr>
            <a:endParaRPr sz="1000" dirty="0">
              <a:solidFill>
                <a:srgbClr val="000000"/>
              </a:solidFill>
              <a:latin typeface="Arial"/>
              <a:ea typeface="Arial"/>
              <a:cs typeface="Arial"/>
              <a:sym typeface="Arial"/>
            </a:endParaRPr>
          </a:p>
          <a:p>
            <a:pPr marL="0" lvl="0" indent="0" algn="l" rtl="0">
              <a:spcBef>
                <a:spcPts val="1000"/>
              </a:spcBef>
              <a:spcAft>
                <a:spcPts val="1600"/>
              </a:spcAft>
              <a:buNone/>
            </a:pPr>
            <a:endParaRPr dirty="0"/>
          </a:p>
        </p:txBody>
      </p:sp>
      <p:sp>
        <p:nvSpPr>
          <p:cNvPr id="239" name="Google Shape;239;g340f8e6e69a_0_166"/>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a:t>5</a:t>
            </a:fld>
            <a:endParaRPr/>
          </a:p>
        </p:txBody>
      </p:sp>
      <p:pic>
        <p:nvPicPr>
          <p:cNvPr id="7" name="Picture 6" descr="A table of numbers and a number of objects&#10;&#10;Description automatically generated with medium confidence">
            <a:extLst>
              <a:ext uri="{FF2B5EF4-FFF2-40B4-BE49-F238E27FC236}">
                <a16:creationId xmlns:a16="http://schemas.microsoft.com/office/drawing/2014/main" id="{4CFBE0DC-046B-C1E3-1FFD-263EC09B8695}"/>
              </a:ext>
            </a:extLst>
          </p:cNvPr>
          <p:cNvPicPr>
            <a:picLocks noChangeAspect="1"/>
          </p:cNvPicPr>
          <p:nvPr/>
        </p:nvPicPr>
        <p:blipFill>
          <a:blip r:embed="rId5"/>
          <a:stretch>
            <a:fillRect/>
          </a:stretch>
        </p:blipFill>
        <p:spPr>
          <a:xfrm>
            <a:off x="7142204" y="1278049"/>
            <a:ext cx="4558829" cy="2923248"/>
          </a:xfrm>
          <a:prstGeom prst="rect">
            <a:avLst/>
          </a:prstGeom>
        </p:spPr>
      </p:pic>
      <p:pic>
        <p:nvPicPr>
          <p:cNvPr id="40" name="Audio 39">
            <a:extLst>
              <a:ext uri="{FF2B5EF4-FFF2-40B4-BE49-F238E27FC236}">
                <a16:creationId xmlns:a16="http://schemas.microsoft.com/office/drawing/2014/main" id="{8D5395DB-D2B4-EA3D-276B-103B60B9F136}"/>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163300" y="58293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48069"/>
    </mc:Choice>
    <mc:Fallback xmlns="">
      <p:transition spd="slow" advTm="4806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0"/>
                </p:tgtEl>
              </p:cMediaNode>
            </p:audio>
          </p:childTnLst>
        </p:cTn>
      </p:par>
    </p:tnLst>
  </p:timing>
</p:sld>
</file>

<file path=ppt/theme/theme1.xml><?xml version="1.0" encoding="utf-8"?>
<a:theme xmlns:a="http://schemas.openxmlformats.org/drawingml/2006/main" name="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1C3AA9"/>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TotalTime>
  <Words>871</Words>
  <Application>Microsoft Macintosh PowerPoint</Application>
  <PresentationFormat>Widescreen</PresentationFormat>
  <Paragraphs>97</Paragraphs>
  <Slides>5</Slides>
  <Notes>5</Notes>
  <HiddenSlides>0</HiddenSlides>
  <MMClips>5</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Proxima Nova Extrabold</vt:lpstr>
      <vt:lpstr>Alfa Slab One</vt:lpstr>
      <vt:lpstr>Proxima Nova</vt:lpstr>
      <vt:lpstr>Gameday</vt:lpstr>
      <vt:lpstr>Member and contributions</vt:lpstr>
      <vt:lpstr>Experiment - Baseline  </vt:lpstr>
      <vt:lpstr>Baseline - Model implementation  </vt:lpstr>
      <vt:lpstr>Experimental Setup &amp; Evaluation Metrics  </vt:lpstr>
      <vt:lpstr>Results - Baseline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Alzheimer's Detection using  EEG Brain Signal by applying  Deep Learning Models</dc:title>
  <dc:creator>Corey Chang</dc:creator>
  <cp:lastModifiedBy>Sathvik Gajula</cp:lastModifiedBy>
  <cp:revision>3</cp:revision>
  <dcterms:created xsi:type="dcterms:W3CDTF">2025-03-10T16:06:19Z</dcterms:created>
  <dcterms:modified xsi:type="dcterms:W3CDTF">2025-04-28T02:19:04Z</dcterms:modified>
</cp:coreProperties>
</file>